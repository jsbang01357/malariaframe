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40d476b7fd41f5" /><Relationship Type="http://schemas.openxmlformats.org/officeDocument/2006/relationships/extended-properties" Target="/docProps/app.xml" Id="R6c0ae589c20f47ef" /><Relationship Type="http://schemas.openxmlformats.org/officeDocument/2006/relationships/officeDocument" Target="/ppt/presentation.xml" Id="Rb673d8719c6c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62595072a47d5"/>
  </p:sldMasterIdLst>
  <p:notesMasterIdLst>
    <p:notesMasterId xmlns:r="http://schemas.openxmlformats.org/officeDocument/2006/relationships" r:id="Rf003c1ffa90b44c5"/>
  </p:notesMasterIdLst>
  <p:sldIdLst>
    <p:sldId xmlns:r="http://schemas.openxmlformats.org/officeDocument/2006/relationships" id="256" r:id="Rccf09681b9c54011"/>
    <p:sldId xmlns:r="http://schemas.openxmlformats.org/officeDocument/2006/relationships" id="257" r:id="R25d78b066b8942c6"/>
    <p:sldId xmlns:r="http://schemas.openxmlformats.org/officeDocument/2006/relationships" id="258" r:id="R1ca373163cc14c89"/>
    <p:sldId xmlns:r="http://schemas.openxmlformats.org/officeDocument/2006/relationships" id="259" r:id="R24237075a89e4336"/>
    <p:sldId xmlns:r="http://schemas.openxmlformats.org/officeDocument/2006/relationships" id="260" r:id="R58ffa8a532c4487a"/>
    <p:sldId xmlns:r="http://schemas.openxmlformats.org/officeDocument/2006/relationships" id="261" r:id="R56a9b7ede0824d52"/>
    <p:sldId xmlns:r="http://schemas.openxmlformats.org/officeDocument/2006/relationships" id="262" r:id="Ra58dffd8d8be493e"/>
    <p:sldId xmlns:r="http://schemas.openxmlformats.org/officeDocument/2006/relationships" id="263" r:id="R553f13cc7bec4291"/>
    <p:sldId xmlns:r="http://schemas.openxmlformats.org/officeDocument/2006/relationships" id="264" r:id="R9bfacbae9fbf4035"/>
    <p:sldId xmlns:r="http://schemas.openxmlformats.org/officeDocument/2006/relationships" id="265" r:id="R41ce10139e75425c"/>
    <p:sldId xmlns:r="http://schemas.openxmlformats.org/officeDocument/2006/relationships" id="266" r:id="R3611b50e1fcb4692"/>
    <p:sldId xmlns:r="http://schemas.openxmlformats.org/officeDocument/2006/relationships" id="267" r:id="Rea686f14127e4d54"/>
    <p:sldId xmlns:r="http://schemas.openxmlformats.org/officeDocument/2006/relationships" id="268" r:id="R7ed0c2c1834e49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89780ee094499" /><Relationship Type="http://schemas.openxmlformats.org/officeDocument/2006/relationships/slideMaster" Target="/ppt/slideMasters/slideMaster1.xml" Id="R9b962595072a47d5" /><Relationship Type="http://schemas.openxmlformats.org/officeDocument/2006/relationships/notesMaster" Target="/ppt/notesMasters/notesMaster1.xml" Id="Rf003c1ffa90b44c5" /><Relationship Type="http://schemas.openxmlformats.org/officeDocument/2006/relationships/presProps" Target="/ppt/presProps.xml" Id="R2712ca75bf3146c6" /><Relationship Type="http://schemas.openxmlformats.org/officeDocument/2006/relationships/tableStyles" Target="/ppt/tableStyles.xml" Id="R3852283c5a8f4427" /><Relationship Type="http://schemas.openxmlformats.org/officeDocument/2006/relationships/slide" Target="/ppt/slides/slide1.xml" Id="Rccf09681b9c54011" /><Relationship Type="http://schemas.openxmlformats.org/officeDocument/2006/relationships/slide" Target="/ppt/slides/slide2.xml" Id="R25d78b066b8942c6" /><Relationship Type="http://schemas.openxmlformats.org/officeDocument/2006/relationships/slide" Target="/ppt/slides/slide3.xml" Id="R1ca373163cc14c89" /><Relationship Type="http://schemas.openxmlformats.org/officeDocument/2006/relationships/slide" Target="/ppt/slides/slide4.xml" Id="R24237075a89e4336" /><Relationship Type="http://schemas.openxmlformats.org/officeDocument/2006/relationships/slide" Target="/ppt/slides/slide5.xml" Id="R58ffa8a532c4487a" /><Relationship Type="http://schemas.openxmlformats.org/officeDocument/2006/relationships/slide" Target="/ppt/slides/slide6.xml" Id="R56a9b7ede0824d52" /><Relationship Type="http://schemas.openxmlformats.org/officeDocument/2006/relationships/slide" Target="/ppt/slides/slide7.xml" Id="Ra58dffd8d8be493e" /><Relationship Type="http://schemas.openxmlformats.org/officeDocument/2006/relationships/slide" Target="/ppt/slides/slide8.xml" Id="R553f13cc7bec4291" /><Relationship Type="http://schemas.openxmlformats.org/officeDocument/2006/relationships/slide" Target="/ppt/slides/slide9.xml" Id="R9bfacbae9fbf4035" /><Relationship Type="http://schemas.openxmlformats.org/officeDocument/2006/relationships/slide" Target="/ppt/slides/slide10.xml" Id="R41ce10139e75425c" /><Relationship Type="http://schemas.openxmlformats.org/officeDocument/2006/relationships/slide" Target="/ppt/slides/slide11.xml" Id="R3611b50e1fcb4692" /><Relationship Type="http://schemas.openxmlformats.org/officeDocument/2006/relationships/slide" Target="/ppt/slides/slide12.xml" Id="Rea686f14127e4d54" /><Relationship Type="http://schemas.openxmlformats.org/officeDocument/2006/relationships/slide" Target="/ppt/slides/slide13.xml" Id="R7ed0c2c1834e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e87e686f5a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d00352f66e4cec" /><Relationship Type="http://schemas.openxmlformats.org/officeDocument/2006/relationships/notesMaster" Target="/ppt/notesMasters/notesMaster1.xml" Id="Re25bab6fa3d641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75a80738184625" /><Relationship Type="http://schemas.openxmlformats.org/officeDocument/2006/relationships/notesMaster" Target="/ppt/notesMasters/notesMaster1.xml" Id="Rec2489b07ab3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9152bcf434fff" /><Relationship Type="http://schemas.openxmlformats.org/officeDocument/2006/relationships/notesMaster" Target="/ppt/notesMasters/notesMaster1.xml" Id="Ree53d3af84e84a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03342369b472d" /><Relationship Type="http://schemas.openxmlformats.org/officeDocument/2006/relationships/notesMaster" Target="/ppt/notesMasters/notesMaster1.xml" Id="R533e728c54cf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3ea673d01e4fe7" /><Relationship Type="http://schemas.openxmlformats.org/officeDocument/2006/relationships/notesMaster" Target="/ppt/notesMasters/notesMaster1.xml" Id="Rcad8db838e814d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fed61881464a2f" /><Relationship Type="http://schemas.openxmlformats.org/officeDocument/2006/relationships/notesMaster" Target="/ppt/notesMasters/notesMaster1.xml" Id="R1d1d718b908842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72ef1f4e8c4214" /><Relationship Type="http://schemas.openxmlformats.org/officeDocument/2006/relationships/notesMaster" Target="/ppt/notesMasters/notesMaster1.xml" Id="Rf5f4e222f6534c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402e5ab58d43d7" /><Relationship Type="http://schemas.openxmlformats.org/officeDocument/2006/relationships/notesMaster" Target="/ppt/notesMasters/notesMaster1.xml" Id="R292e6bc62c1b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26e655ab64b04" /><Relationship Type="http://schemas.openxmlformats.org/officeDocument/2006/relationships/notesMaster" Target="/ppt/notesMasters/notesMaster1.xml" Id="R6e6b99d152574a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e445534a59491e" /><Relationship Type="http://schemas.openxmlformats.org/officeDocument/2006/relationships/notesMaster" Target="/ppt/notesMasters/notesMaster1.xml" Id="R03ef283d220c4f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f50537c510458a" /><Relationship Type="http://schemas.openxmlformats.org/officeDocument/2006/relationships/notesMaster" Target="/ppt/notesMasters/notesMaster1.xml" Id="Re44a36a1570641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f1d97464c34c11" /><Relationship Type="http://schemas.openxmlformats.org/officeDocument/2006/relationships/notesMaster" Target="/ppt/notesMasters/notesMaster1.xml" Id="R6167cf5a860f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fa3a3b95a3429c" /><Relationship Type="http://schemas.openxmlformats.org/officeDocument/2006/relationships/notesMaster" Target="/ppt/notesMasters/notesMaster1.xml" Id="R22392778fe1f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aed292189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9d986bbafd42db" /><Relationship Type="http://schemas.openxmlformats.org/officeDocument/2006/relationships/slideLayout" Target="/ppt/slideLayouts/slideLayout1.xml" Id="R1ebc4df4ff0b40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c4df4ff0b40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40022ea354374" /><Relationship Type="http://schemas.openxmlformats.org/officeDocument/2006/relationships/notesSlide" Target="/ppt/notesSlides/notesSlide1.xml" Id="Rd8d345be8909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ddd06c18f4987" /><Relationship Type="http://schemas.openxmlformats.org/officeDocument/2006/relationships/notesSlide" Target="/ppt/notesSlides/notesSlide2.xml" Id="Ra4c44d6f87da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0512aeda4471c" /><Relationship Type="http://schemas.openxmlformats.org/officeDocument/2006/relationships/image" Target="/ppt/media/image.jpeg" Id="R87426ed1ff2941fa" /><Relationship Type="http://schemas.openxmlformats.org/officeDocument/2006/relationships/notesSlide" Target="/ppt/notesSlides/notesSlide3.xml" Id="R3f2d20accd65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26a676dda43a6" /><Relationship Type="http://schemas.openxmlformats.org/officeDocument/2006/relationships/notesSlide" Target="/ppt/notesSlides/notesSlide4.xml" Id="R5afb921b80db4c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8c7a1a979474a" /><Relationship Type="http://schemas.openxmlformats.org/officeDocument/2006/relationships/notesSlide" Target="/ppt/notesSlides/notesSlide5.xml" Id="R62d18b6bf27c4e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dbf80cab440a" /><Relationship Type="http://schemas.openxmlformats.org/officeDocument/2006/relationships/image" Target="/ppt/media/image2.jpeg" Id="R6ea10f8b0aa14f29" /><Relationship Type="http://schemas.openxmlformats.org/officeDocument/2006/relationships/notesSlide" Target="/ppt/notesSlides/notesSlide6.xml" Id="R51662d4845a54d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3459d17b74fd2" /><Relationship Type="http://schemas.openxmlformats.org/officeDocument/2006/relationships/notesSlide" Target="/ppt/notesSlides/notesSlide7.xml" Id="R4de947871023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275ff65f54506" /><Relationship Type="http://schemas.openxmlformats.org/officeDocument/2006/relationships/notesSlide" Target="/ppt/notesSlides/notesSlide8.xml" Id="R9c9f3527e19c4b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69ada64343cc" /><Relationship Type="http://schemas.openxmlformats.org/officeDocument/2006/relationships/notesSlide" Target="/ppt/notesSlides/notesSlide9.xml" Id="R44eacf10112a44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600020fd843dc" /><Relationship Type="http://schemas.openxmlformats.org/officeDocument/2006/relationships/notesSlide" Target="/ppt/notesSlides/notesSlide10.xml" Id="Rbade9c979eb94d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09987d1b41f9" /><Relationship Type="http://schemas.openxmlformats.org/officeDocument/2006/relationships/notesSlide" Target="/ppt/notesSlides/notesSlide11.xml" Id="R1b871190c07d4b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3225a12d45f5" /><Relationship Type="http://schemas.openxmlformats.org/officeDocument/2006/relationships/notesSlide" Target="/ppt/notesSlides/notesSlide12.xml" Id="Rfcdc01c03c8248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f70896b174976" /><Relationship Type="http://schemas.openxmlformats.org/officeDocument/2006/relationships/notesSlide" Target="/ppt/notesSlides/notesSlide13.xml" Id="R12aa0e19804446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dge-bg">
            <a:extLst xmlns:a="http://schemas.openxmlformats.org/drawingml/2006/main">
              <a:ext uri="{FF2B5EF4-FFF2-40B4-BE49-F238E27FC236}">
                <a16:creationId xmlns:a16="http://schemas.microsoft.com/office/drawing/2014/main" id="{6F6D2C4A-A1A0-4884-883E-5335435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4859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adge">
            <a:extLst xmlns:a="http://schemas.openxmlformats.org/drawingml/2006/main">
              <a:ext uri="{FF2B5EF4-FFF2-40B4-BE49-F238E27FC236}">
                <a16:creationId xmlns:a16="http://schemas.microsoft.com/office/drawing/2014/main" id="{D378527A-B1E7-4D50-B527-A3BB2F3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공공 협력 검토용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487C0CD-44ED-4F4A-A188-8860936B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MalariaFrame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F63A53-DF42-4DDB-8874-C77A080B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1차 의료기관용</a:t>
            </a:r>
          </a:p>
          <a:p xmlns:a="http://schemas.openxmlformats.org/drawingml/2006/main">
            <a:pPr algn="l">
              <a:defRPr sz="4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말라리아 웹 CDSS</a:t>
            </a:r>
          </a:p>
        </p:txBody>
      </p:sp>
      <p:sp>
        <p:nvSpPr>
          <p:cNvPr id="5" name="accent-bar">
            <a:extLst xmlns:a="http://schemas.openxmlformats.org/drawingml/2006/main">
              <a:ext uri="{FF2B5EF4-FFF2-40B4-BE49-F238E27FC236}">
                <a16:creationId xmlns:a16="http://schemas.microsoft.com/office/drawing/2014/main" id="{0B1BF313-8C18-40D3-9F95-ED98F27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009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5F3F991-021E-479C-973C-981E255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질병관리청 지침의 진료 흐름·약물 용량 규칙을 구조화한</a:t>
            </a:r>
          </a:p>
          <a:p xmlns:a="http://schemas.openxmlformats.org/drawingml/2006/main">
            <a:pPr algn="l">
              <a:defRPr sz="202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오픈소스 임상 의사결정 지원 프로토타입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DD8F98-2E18-4519-B19F-3A03A97F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감염병정책국 인수공통감염병관리과 브리핑</a:t>
            </a:r>
          </a:p>
          <a:p xmlns:a="http://schemas.openxmlformats.org/drawingml/2006/main">
            <a:pPr algn="l">
              <a:defRPr sz="1200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제안·개발  jsbang01357 (개인 오픈소스 프로젝트)  |  2026.07.11</a:t>
            </a:r>
          </a:p>
        </p:txBody>
      </p:sp>
      <p:sp>
        <p:nvSpPr>
          <p:cNvPr id="8" name="cover-mark">
            <a:extLst xmlns:a="http://schemas.openxmlformats.org/drawingml/2006/main">
              <a:ext uri="{FF2B5EF4-FFF2-40B4-BE49-F238E27FC236}">
                <a16:creationId xmlns:a16="http://schemas.microsoft.com/office/drawing/2014/main" id="{EBFFCCA4-F584-4415-AC90-0EC6F88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9812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01392D-A240-4129-9D8A-6B90123D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435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MF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2F8C53-FD14-40AE-84E3-6A6DE0F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7816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CLINICAL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539738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499ABE-CDA5-4257-8BA8-D709300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지침을 ‘읽는 자료’에서 ‘진료 시점의 행동’으로 변환했습니다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EA82F0-8B81-41AB-A36C-8CF73B44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목표는 의료진의 판단을 대체하는 것이 아니라, 누락되기 쉬운 분기와 계산을 한 화면에서 확인하게 하는 것입니다.</a:t>
            </a:r>
          </a:p>
        </p:txBody>
      </p:sp>
      <p:cxnSp>
        <p:nvCxnSpPr>
          <p:cNvPr id="27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666B30-5DD3-4B97-A661-28B95122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현장 과제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C1A291-BABB-47E0-A529-B6527FE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시스템의 대응</a:t>
            </a:r>
          </a:p>
        </p:txBody>
      </p:sp>
      <p:sp>
        <p:nvSpPr>
          <p:cNvPr id="6" name="challenge-0-0">
            <a:extLst xmlns:a="http://schemas.openxmlformats.org/drawingml/2006/main">
              <a:ext uri="{FF2B5EF4-FFF2-40B4-BE49-F238E27FC236}">
                <a16:creationId xmlns:a16="http://schemas.microsoft.com/office/drawing/2014/main" id="{E8CBA2E0-E1E7-4D70-8810-11C0A370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206F16-E881-448F-86D1-CEC4515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7319CD-F81A-40C0-9F41-D67A8FD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5267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노출력·검사·중증 기준이 서로 다른 문단과 표에 분산</a:t>
            </a:r>
          </a:p>
        </p:txBody>
      </p:sp>
      <p:sp>
        <p:nvSpPr>
          <p:cNvPr id="9" name="challenge-0-1">
            <a:extLst xmlns:a="http://schemas.openxmlformats.org/drawingml/2006/main">
              <a:ext uri="{FF2B5EF4-FFF2-40B4-BE49-F238E27FC236}">
                <a16:creationId xmlns:a16="http://schemas.microsoft.com/office/drawing/2014/main" id="{A5A5E79F-2DF1-4488-8C81-60E8C66B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087908-D99E-4951-86DD-F2644E9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585AD6-4B75-40A4-8008-A8422C5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검사 음성 후 반복검사, 원충종 미확인 등 예외 흐름 누락 가능</a:t>
            </a:r>
          </a:p>
        </p:txBody>
      </p:sp>
      <p:sp>
        <p:nvSpPr>
          <p:cNvPr id="12" name="challenge-0-2">
            <a:extLst xmlns:a="http://schemas.openxmlformats.org/drawingml/2006/main">
              <a:ext uri="{FF2B5EF4-FFF2-40B4-BE49-F238E27FC236}">
                <a16:creationId xmlns:a16="http://schemas.microsoft.com/office/drawing/2014/main" id="{ED3FC1C5-C93D-4D6F-9FC0-2AB7EBA7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F39089-E303-4EE1-AC5B-147F89C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4CF5932-4972-47B2-9194-3E7BADC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5297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체중·임신·G6PD·제형을 함께 고려하는 약물 계산 부담</a:t>
            </a:r>
          </a:p>
        </p:txBody>
      </p:sp>
      <p:sp>
        <p:nvSpPr>
          <p:cNvPr id="15" name="challenge-1-0">
            <a:extLst xmlns:a="http://schemas.openxmlformats.org/drawingml/2006/main">
              <a:ext uri="{FF2B5EF4-FFF2-40B4-BE49-F238E27FC236}">
                <a16:creationId xmlns:a16="http://schemas.microsoft.com/office/drawing/2014/main" id="{DD2F7F0E-B70C-45A5-9479-EC6CBEE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CC0CEAC-23DD-4044-BC84-83CFCB9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422A9B-C16F-4481-8934-39666BF6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5267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 정보 → 진단 수준 → 중증도 → 다음 조치를 순서화</a:t>
            </a:r>
          </a:p>
        </p:txBody>
      </p:sp>
      <p:sp>
        <p:nvSpPr>
          <p:cNvPr id="18" name="challenge-1-1">
            <a:extLst xmlns:a="http://schemas.openxmlformats.org/drawingml/2006/main">
              <a:ext uri="{FF2B5EF4-FFF2-40B4-BE49-F238E27FC236}">
                <a16:creationId xmlns:a16="http://schemas.microsoft.com/office/drawing/2014/main" id="{B0B9A3F0-682E-40E5-9C7C-5DD854D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3A0D66-3E72-4BEC-87A1-FBEAA42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231190F-DF52-4C8F-81B9-9ACBD7FD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5282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추정·확인·반복검사·전원 경로를 명시적으로 분리</a:t>
            </a:r>
          </a:p>
        </p:txBody>
      </p:sp>
      <p:sp>
        <p:nvSpPr>
          <p:cNvPr id="21" name="challenge-1-2">
            <a:extLst xmlns:a="http://schemas.openxmlformats.org/drawingml/2006/main">
              <a:ext uri="{FF2B5EF4-FFF2-40B4-BE49-F238E27FC236}">
                <a16:creationId xmlns:a16="http://schemas.microsoft.com/office/drawing/2014/main" id="{E4FC3D53-F119-48F5-B06A-74275EB8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4673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8245F9-03C8-49AA-8892-15588092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8ECC332-2AD9-4DEA-BB85-4DC18CB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52975"/>
            <a:ext cx="455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용량 후보와 함께 금기·보류 사유·최종 확인 항목을 출력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2BCCCA20-1FF5-4D5F-BBD6-5BB9D14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02</a:t>
            </a:r>
          </a:p>
        </p:txBody>
      </p:sp>
    </p:spTree>
    <p:extLst>
      <p:ext uri="{BB962C8B-B14F-4D97-AF65-F5344CB8AC3E}">
        <p14:creationId xmlns:p14="http://schemas.microsoft.com/office/powerpoint/2010/main" val="1211055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0E73F-94CF-4750-854A-9A78AC50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세 화면이 한 번의 진료 흐름을 분담합니다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1F885E-0801-4FE2-A321-5B9615A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진료 의사결정, 독립 약물 계산, 공식 배포자료 확인을 고정 사이드바에서 전환합니다.</a:t>
            </a:r>
          </a:p>
        </p:txBody>
      </p:sp>
      <p:cxnSp>
        <p:nvCxnSpPr>
          <p:cNvPr id="26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module-Dx">
            <a:extLst xmlns:a="http://schemas.openxmlformats.org/drawingml/2006/main">
              <a:ext uri="{FF2B5EF4-FFF2-40B4-BE49-F238E27FC236}">
                <a16:creationId xmlns:a16="http://schemas.microsoft.com/office/drawing/2014/main" id="{3F6EAAD7-7777-4762-9210-FAC46284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029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dule-code-Dx">
            <a:extLst xmlns:a="http://schemas.openxmlformats.org/drawingml/2006/main">
              <a:ext uri="{FF2B5EF4-FFF2-40B4-BE49-F238E27FC236}">
                <a16:creationId xmlns:a16="http://schemas.microsoft.com/office/drawing/2014/main" id="{11474C60-6111-4040-A4A5-D062BE3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45B1FE-7BB8-4546-A423-2B94F08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Dx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04ECA9-EB94-4BDD-9FD4-6CCAD0A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954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진료 의사결정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8809D3-B386-4E84-896F-AB02F55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002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역학·검사·중증도를 입력하고 다음 조치와 처방 초안을 확인</a:t>
            </a:r>
          </a:p>
        </p:txBody>
      </p:sp>
      <p:sp>
        <p:nvSpPr>
          <p:cNvPr id="9" name="module-Rx">
            <a:extLst xmlns:a="http://schemas.openxmlformats.org/drawingml/2006/main">
              <a:ext uri="{FF2B5EF4-FFF2-40B4-BE49-F238E27FC236}">
                <a16:creationId xmlns:a16="http://schemas.microsoft.com/office/drawing/2014/main" id="{915E9D62-E1EF-402F-87CA-D3F4AD23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029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dule-code-Rx">
            <a:extLst xmlns:a="http://schemas.openxmlformats.org/drawingml/2006/main">
              <a:ext uri="{FF2B5EF4-FFF2-40B4-BE49-F238E27FC236}">
                <a16:creationId xmlns:a16="http://schemas.microsoft.com/office/drawing/2014/main" id="{94F87D52-601F-4041-9A10-E44ABB2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96E23A-E356-41F4-A6D7-E6DAA90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Rx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E94464-A3A0-469F-9C5D-6872E6F1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약물 계산기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0FAC43-C97A-4F08-88C0-2D65D080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치료 상황과 체중을 기준으로 용량 후보 및 보류 사유를 생성</a:t>
            </a:r>
          </a:p>
        </p:txBody>
      </p:sp>
      <p:sp>
        <p:nvSpPr>
          <p:cNvPr id="14" name="module-DOC">
            <a:extLst xmlns:a="http://schemas.openxmlformats.org/drawingml/2006/main">
              <a:ext uri="{FF2B5EF4-FFF2-40B4-BE49-F238E27FC236}">
                <a16:creationId xmlns:a16="http://schemas.microsoft.com/office/drawing/2014/main" id="{D474AD86-9D01-4532-9354-310E117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0292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ule-code-DOC">
            <a:extLst xmlns:a="http://schemas.openxmlformats.org/drawingml/2006/main">
              <a:ext uri="{FF2B5EF4-FFF2-40B4-BE49-F238E27FC236}">
                <a16:creationId xmlns:a16="http://schemas.microsoft.com/office/drawing/2014/main" id="{61392DDD-FB6E-4F87-A73E-D8AB326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6325D0-CD3C-4A0F-BAB3-546CA948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DOC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4AA966-E9EA-4DCD-BE76-D5D81DE3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의사용 배포자료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5444108-38C2-4D7A-AD3F-F42ABB7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386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알고리즘·용량표·중증 기준·질병관리청 원문을 별도 확인</a:t>
            </a:r>
          </a:p>
        </p:txBody>
      </p:sp>
      <p:sp>
        <p:nvSpPr>
          <p:cNvPr id="1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979862E-1AC1-4A49-AAA1-40E081B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57350"/>
            <a:ext cx="609600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26ed1ff2941fa"/>
          <a:srcRect xmlns:a="http://schemas.openxmlformats.org/drawingml/2006/main" l="10006" t="0" r="100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1752600"/>
            <a:ext cx="5905500" cy="4152900"/>
          </a:xfrm>
          <a:prstGeom xmlns:a="http://schemas.openxmlformats.org/drawingml/2006/main" prst="roundRect">
            <a:avLst>
              <a:gd name="adj" fmla="val 1376"/>
            </a:avLst>
          </a:prstGeom>
        </p:spPr>
      </p:pic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D70554A-3BAA-4F96-BA53-F1E0A84D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864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현재 공개 프로토타입 화면 · 실제 환자정보 미입력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8E029E6B-77EF-43C5-B331-9B1C1E90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Live prototype verified: malaria.jisong.dev (2026.07.11)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AF3D9862-BA37-4110-8E4A-EBD132E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03</a:t>
            </a:r>
          </a:p>
        </p:txBody>
      </p:sp>
    </p:spTree>
    <p:extLst>
      <p:ext uri="{BB962C8B-B14F-4D97-AF65-F5344CB8AC3E}">
        <p14:creationId xmlns:p14="http://schemas.microsoft.com/office/powerpoint/2010/main" val="741404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657ACD-5287-4A0F-B685-832BBB4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입력부터 처방 초안까지, 다섯 번의 확인으로 흐름을 고정합니다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BF1D15-FDC7-41EB-9F9E-94D37435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각 단계가 다음 단계의 조건을 만들고, 위험 신호가 있으면 외래 경로를 중단합니다.</a:t>
            </a:r>
          </a:p>
        </p:txBody>
      </p:sp>
      <p:cxnSp>
        <p:nvCxnSpPr>
          <p:cNvPr id="34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flow-node-0">
            <a:extLst xmlns:a="http://schemas.openxmlformats.org/drawingml/2006/main">
              <a:ext uri="{FF2B5EF4-FFF2-40B4-BE49-F238E27FC236}">
                <a16:creationId xmlns:a16="http://schemas.microsoft.com/office/drawing/2014/main" id="{6117A93B-82FF-466D-B1CB-FD798C22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18097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50E4DBAB-94DD-496D-AB92-1D665B4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8097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2438C28A-BF6C-42C5-8CBE-A799F2DE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18097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9525">
            <a:solidFill>
              <a:srgbClr val="A8423A"/>
            </a:solidFill>
            <a:prstDash val="solid"/>
          </a:ln>
        </p:spPr>
      </p:sp>
      <p:sp>
        <p:nvSpPr>
          <p:cNvPr id="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3A411847-8D5E-406F-8B43-3C7C342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14625"/>
            <a:ext cx="18097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flow-node-4">
            <a:extLst xmlns:a="http://schemas.openxmlformats.org/drawingml/2006/main">
              <a:ext uri="{FF2B5EF4-FFF2-40B4-BE49-F238E27FC236}">
                <a16:creationId xmlns:a16="http://schemas.microsoft.com/office/drawing/2014/main" id="{466FC512-5F76-4956-BF3C-A3CDED6E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8097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3552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48200" y="3552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72300" y="3552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96400" y="3552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78503A-E227-4FE2-B180-9AD287E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CA637B2-5D3A-4228-ABD7-89F4AE6F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 평가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CB9CD1-5C93-48E6-B38B-94B29C5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나이·체중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노출력·발열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8F761ED-46A0-4990-8015-CC638CF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95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F5A948B-EA7F-4B87-9361-DB7D0DB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진단 수준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43B364-CBCD-4FEE-ADF1-85E53305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0522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의심·추정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확인·반복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BD9955-9E0E-4AD4-BEFB-E553515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8423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0B97B5-D6B3-47B0-A647-C9DC200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중증도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766CDE1-0141-4217-A320-B2BDBB94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0522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임상·검사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즉시 전원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96CC58E-DCD4-4BC1-BE14-AB44B37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95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F7890C9-6EFE-45A2-B28E-277349D8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약물 후보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75060C2-D936-4461-BF79-04D22C3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0522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원충종·체중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임신·G6PD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4A48661-41BA-4140-B6B9-AB79ED89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95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6367F96-E664-458F-8BC6-1CE08DE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57550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의료진 확인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2FCD919-E9F5-47BF-8474-5591AFD7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0522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제형·금기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신고·추적</a:t>
            </a:r>
          </a:p>
        </p:txBody>
      </p:sp>
      <p:sp>
        <p:nvSpPr>
          <p:cNvPr id="28" name="workflow-guard">
            <a:extLst xmlns:a="http://schemas.openxmlformats.org/drawingml/2006/main">
              <a:ext uri="{FF2B5EF4-FFF2-40B4-BE49-F238E27FC236}">
                <a16:creationId xmlns:a16="http://schemas.microsoft.com/office/drawing/2014/main" id="{FD318DAE-CD2F-42C6-A787-A393C6D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1061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209D34F-7BC1-4D4E-A799-6651B46E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중증 기준 충족 또는 경구 투약 불가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455B3AD-84E8-42FD-982D-AC757C7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검사 확정을 기다리지 않고 전원·입원 및 정맥용 아르테수네이트 확보 경로를 우선 표시</a:t>
            </a:r>
          </a:p>
        </p:txBody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85450CCE-FB3D-44C7-A4FF-ECC7F68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04</a:t>
            </a:r>
          </a:p>
        </p:txBody>
      </p:sp>
    </p:spTree>
    <p:extLst>
      <p:ext uri="{BB962C8B-B14F-4D97-AF65-F5344CB8AC3E}">
        <p14:creationId xmlns:p14="http://schemas.microsoft.com/office/powerpoint/2010/main" val="1476997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B558C5-D594-4049-AE2E-E43F4F00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규칙의 기준일과 출처를 화면·문서·코드에서 함께 고정합니다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48566C-0F9B-497A-84D6-90F84C80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지침 개정 시 영향을 받는 분기와 용량표를 추적할 수 있도록 출처와 검토 상태를 분리합니다.</a:t>
            </a:r>
          </a:p>
        </p:txBody>
      </p:sp>
      <p:cxnSp>
        <p:nvCxnSpPr>
          <p:cNvPr id="43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cell-0-0">
            <a:extLst xmlns:a="http://schemas.openxmlformats.org/drawingml/2006/main">
              <a:ext uri="{FF2B5EF4-FFF2-40B4-BE49-F238E27FC236}">
                <a16:creationId xmlns:a16="http://schemas.microsoft.com/office/drawing/2014/main" id="{12AD87C8-656A-4745-B47F-BA28D24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58684F-53C0-4980-9E27-54B4A501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근거 계층</a:t>
            </a:r>
          </a:p>
        </p:txBody>
      </p:sp>
      <p:sp>
        <p:nvSpPr>
          <p:cNvPr id="6" name="cell-0-1">
            <a:extLst xmlns:a="http://schemas.openxmlformats.org/drawingml/2006/main">
              <a:ext uri="{FF2B5EF4-FFF2-40B4-BE49-F238E27FC236}">
                <a16:creationId xmlns:a16="http://schemas.microsoft.com/office/drawing/2014/main" id="{65D697B1-D39A-46E3-8F8D-F20A713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716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94C964-A066-4B7D-913C-9BCB779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478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적용</a:t>
            </a:r>
          </a:p>
        </p:txBody>
      </p:sp>
      <p:sp>
        <p:nvSpPr>
          <p:cNvPr id="8" name="cell-0-2">
            <a:extLst xmlns:a="http://schemas.openxmlformats.org/drawingml/2006/main">
              <a:ext uri="{FF2B5EF4-FFF2-40B4-BE49-F238E27FC236}">
                <a16:creationId xmlns:a16="http://schemas.microsoft.com/office/drawing/2014/main" id="{5370C353-91E3-4141-8222-E99BD483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716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8ED239-439A-4828-B5C6-56D2DA3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시스템 반영</a:t>
            </a:r>
          </a:p>
        </p:txBody>
      </p:sp>
      <p:sp>
        <p:nvSpPr>
          <p:cNvPr id="10" name="cell-0-3">
            <a:extLst xmlns:a="http://schemas.openxmlformats.org/drawingml/2006/main">
              <a:ext uri="{FF2B5EF4-FFF2-40B4-BE49-F238E27FC236}">
                <a16:creationId xmlns:a16="http://schemas.microsoft.com/office/drawing/2014/main" id="{FBD4DFCA-A775-4212-AFAF-4B38669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71650"/>
            <a:ext cx="302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99ADEF-66EB-411A-8F81-AD00DCD9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478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시 조치</a:t>
            </a:r>
          </a:p>
        </p:txBody>
      </p:sp>
      <p:sp>
        <p:nvSpPr>
          <p:cNvPr id="12" name="cell-1-0">
            <a:extLst xmlns:a="http://schemas.openxmlformats.org/drawingml/2006/main">
              <a:ext uri="{FF2B5EF4-FFF2-40B4-BE49-F238E27FC236}">
                <a16:creationId xmlns:a16="http://schemas.microsoft.com/office/drawing/2014/main" id="{8688B826-750C-417D-A8FF-6BFC7A8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008373-FD74-42CD-B70C-F7A44A4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핵심 진료지침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1D265399-58DE-4891-8294-E4FC935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61C7432-54D9-42D1-9CA1-DDBE59D2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말라리아 진료가이드(제3판)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2026.03.30</a:t>
            </a:r>
          </a:p>
        </p:txBody>
      </p:sp>
      <p:sp>
        <p:nvSpPr>
          <p:cNvPr id="16" name="cell-1-2">
            <a:extLst xmlns:a="http://schemas.openxmlformats.org/drawingml/2006/main">
              <a:ext uri="{FF2B5EF4-FFF2-40B4-BE49-F238E27FC236}">
                <a16:creationId xmlns:a16="http://schemas.microsoft.com/office/drawing/2014/main" id="{1D63176F-95E6-4792-8AAD-BF5FDC6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24B3316-1BC6-4179-9DAE-47020D34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진단·중증·약물 분기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규칙 기준일 고정</a:t>
            </a:r>
          </a:p>
        </p:txBody>
      </p:sp>
      <p:sp>
        <p:nvSpPr>
          <p:cNvPr id="18" name="cell-1-3">
            <a:extLst xmlns:a="http://schemas.openxmlformats.org/drawingml/2006/main">
              <a:ext uri="{FF2B5EF4-FFF2-40B4-BE49-F238E27FC236}">
                <a16:creationId xmlns:a16="http://schemas.microsoft.com/office/drawing/2014/main" id="{88875E28-4828-4DAF-8C26-49011D2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9D8F2A0-5236-46A0-B044-B7162A6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규칙·테스트·문서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동시 개정</a:t>
            </a:r>
          </a:p>
        </p:txBody>
      </p:sp>
      <p:sp>
        <p:nvSpPr>
          <p:cNvPr id="20" name="cell-2-0">
            <a:extLst xmlns:a="http://schemas.openxmlformats.org/drawingml/2006/main">
              <a:ext uri="{FF2B5EF4-FFF2-40B4-BE49-F238E27FC236}">
                <a16:creationId xmlns:a16="http://schemas.microsoft.com/office/drawing/2014/main" id="{B82043C6-A047-46B6-B38B-1CF80C6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44A81AF-E14E-4D7B-8BC5-91DF907F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의료인용 배포자료</a:t>
            </a:r>
          </a:p>
        </p:txBody>
      </p:sp>
      <p:sp>
        <p:nvSpPr>
          <p:cNvPr id="22" name="cell-2-1">
            <a:extLst xmlns:a="http://schemas.openxmlformats.org/drawingml/2006/main">
              <a:ext uri="{FF2B5EF4-FFF2-40B4-BE49-F238E27FC236}">
                <a16:creationId xmlns:a16="http://schemas.microsoft.com/office/drawing/2014/main" id="{86241664-06FA-4495-AA26-BC53DCC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8D2538-5A3A-4D20-996C-668332F7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진료 안내서 및 책받침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2026.07.09</a:t>
            </a:r>
          </a:p>
        </p:txBody>
      </p:sp>
      <p:sp>
        <p:nvSpPr>
          <p:cNvPr id="24" name="cell-2-2">
            <a:extLst xmlns:a="http://schemas.openxmlformats.org/drawingml/2006/main">
              <a:ext uri="{FF2B5EF4-FFF2-40B4-BE49-F238E27FC236}">
                <a16:creationId xmlns:a16="http://schemas.microsoft.com/office/drawing/2014/main" id="{B4A31D1B-63BA-47F8-AD1F-2030416C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BBE52A-E6EE-4248-9BE1-17B1B39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배포자료 탭에서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현장 요약 확인</a:t>
            </a:r>
          </a:p>
        </p:txBody>
      </p:sp>
      <p:sp>
        <p:nvSpPr>
          <p:cNvPr id="26" name="cell-2-3">
            <a:extLst xmlns:a="http://schemas.openxmlformats.org/drawingml/2006/main">
              <a:ext uri="{FF2B5EF4-FFF2-40B4-BE49-F238E27FC236}">
                <a16:creationId xmlns:a16="http://schemas.microsoft.com/office/drawing/2014/main" id="{F32AFEBA-733D-42AD-9573-CF2CDE47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5A7AB01-2C22-4AC3-AAD3-6FA1125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표현·용량표의 최신성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상호 대조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4ED9C712-B1F3-4975-9446-57FF5BC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BD3F216-C445-412B-8F38-7364811E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프로젝트 규칙 문서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CA8A3246-B68B-44D7-B3B3-E999A0C3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54B89E3-3E17-4648-B7F3-3B97C65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docs/clinical-rules.md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오픈소스 저장소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009119BA-E9A3-43A8-AE52-AC575B4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86F833E-204D-4904-9A40-E87FC6A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보수적 차단 조건과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검토 필요 항목 명시</a:t>
            </a:r>
          </a:p>
        </p:txBody>
      </p:sp>
      <p:sp>
        <p:nvSpPr>
          <p:cNvPr id="34" name="cell-3-3">
            <a:extLst xmlns:a="http://schemas.openxmlformats.org/drawingml/2006/main">
              <a:ext uri="{FF2B5EF4-FFF2-40B4-BE49-F238E27FC236}">
                <a16:creationId xmlns:a16="http://schemas.microsoft.com/office/drawing/2014/main" id="{27F99917-8F8A-4404-96E9-900CA34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62450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E6002FB-E3FF-4DF7-AE0B-DBD0BDC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386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변경 이력·검수자·</a:t>
            </a:r>
          </a:p>
          <a:p xmlns:a="http://schemas.openxmlformats.org/drawingml/2006/main">
            <a:pPr algn="l">
              <a:def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버전 태그 기록</a:t>
            </a:r>
          </a:p>
        </p:txBody>
      </p:sp>
      <p:sp>
        <p:nvSpPr>
          <p:cNvPr id="36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C094705C-774A-411F-ADE1-ED3B95E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4109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81693A7-9AF2-4343-931E-4A40FDF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rPr>
              <a:t>현재 상태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5410FD2-353B-4529-9388-5F93EBF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816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질병관리청 자료를 기반으로 독립 구현한 프로토타입이며, 질병관리청의 공식 전산서비스·임상 검증 완료 제품을 의미하지 않습니다.</a:t>
            </a:r>
          </a:p>
        </p:txBody>
      </p:sp>
      <p:sp>
        <p:nvSpPr>
          <p:cNvPr id="39" name="source">
            <a:extLst xmlns:a="http://schemas.openxmlformats.org/drawingml/2006/main">
              <a:ext uri="{FF2B5EF4-FFF2-40B4-BE49-F238E27FC236}">
                <a16:creationId xmlns:a16="http://schemas.microsoft.com/office/drawing/2014/main" id="{5EF96F87-B494-4558-BFCB-75C59E3C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Sources: KDCA 말라리아 진료가이드(제3판), 2026.03.30 · 의료인을 위한 말라리아 진료 안내서 및 책받침, 2026.07.09</a:t>
            </a:r>
          </a:p>
        </p:txBody>
      </p:sp>
      <p:sp>
        <p:nvSpPr>
          <p:cNvPr id="40" name="footer">
            <a:extLst xmlns:a="http://schemas.openxmlformats.org/drawingml/2006/main">
              <a:ext uri="{FF2B5EF4-FFF2-40B4-BE49-F238E27FC236}">
                <a16:creationId xmlns:a16="http://schemas.microsoft.com/office/drawing/2014/main" id="{11EE3B08-3125-4C76-AEE2-C2B9627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05</a:t>
            </a:r>
          </a:p>
        </p:txBody>
      </p:sp>
    </p:spTree>
    <p:extLst>
      <p:ext uri="{BB962C8B-B14F-4D97-AF65-F5344CB8AC3E}">
        <p14:creationId xmlns:p14="http://schemas.microsoft.com/office/powerpoint/2010/main" val="1950247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B89D93-9C96-49A5-A1BD-60F29E2C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용량 계산은 처방 확정이 아니라 ‘후보 + 보류 사유’로 출력됩니다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AED0DA-F01D-448F-94A5-B581DB1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예시: 35세, 60 kg, 국내발생 삼일열, G6PD 정상 — 실제 처방이 아닌 기능 설명용 입력입니다.</a:t>
            </a:r>
          </a:p>
        </p:txBody>
      </p:sp>
      <p:cxnSp>
        <p:nvCxnSpPr>
          <p:cNvPr id="23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calculator-frame">
            <a:extLst xmlns:a="http://schemas.openxmlformats.org/drawingml/2006/main">
              <a:ext uri="{FF2B5EF4-FFF2-40B4-BE49-F238E27FC236}">
                <a16:creationId xmlns:a16="http://schemas.microsoft.com/office/drawing/2014/main" id="{4793DB76-7276-4EBB-A08D-D54C7F59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18185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10f8b0aa14f29"/>
          <a:srcRect xmlns:a="http://schemas.openxmlformats.org/drawingml/2006/main" l="2543" t="0" r="25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809750"/>
            <a:ext cx="6991350" cy="4143375"/>
          </a:xfrm>
          <a:prstGeom xmlns:a="http://schemas.openxmlformats.org/drawingml/2006/main" prst="roundRect">
            <a:avLst>
              <a:gd name="adj" fmla="val 1379"/>
            </a:avLst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9487D3-E8F5-456C-A147-8424464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출력 구조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6CA5B0-ED43-4331-BA85-DF4AD827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D4B512-0A4A-4A74-94CE-2479BEB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권고 경로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396154-E943-4039-9991-9F0526DB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치료 시작 + 확진·원충종 확인 + 신고 절차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EF4930-D111-4D0E-9352-8956398F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6B7731-4273-4064-96D1-F792147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용량 후보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9F915E-DCEE-4A62-9662-8291576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히드록시클로로퀸 총 1,950 mg</a:t>
            </a:r>
          </a:p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프리마퀸 총 210 mg base / 14일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471CCF-67FA-4619-B676-ECFF2D83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A1B634-71B4-4FBF-B0BE-A0DA05B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안전 장치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0AE001D-6145-4F0F-902D-FF29C32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G6PD·임신·간질환·QT·예방약 이력에 따라 보류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9D7184-4A34-422D-BC5B-EABD85A2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322DA31-CFC1-4FB1-B150-4FC8D8DB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최종 확인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91F2E83-2B70-4E29-8CDD-0B4EFEA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실제 제형·허가사항·상호작용·최신 지침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9114903A-2ED1-439E-97CA-FF164EB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Example generated by the current deterministic rule engine; not a prescription.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6DE33F89-B208-4F40-9CD4-98BAA5CC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06</a:t>
            </a:r>
          </a:p>
        </p:txBody>
      </p:sp>
    </p:spTree>
    <p:extLst>
      <p:ext uri="{BB962C8B-B14F-4D97-AF65-F5344CB8AC3E}">
        <p14:creationId xmlns:p14="http://schemas.microsoft.com/office/powerpoint/2010/main" val="425764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8EF8B-A5F1-452B-BE1B-4D5353A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구현 범위와 보수적 차단 범위를 같은 표에서 관리합니다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EB3BBA-F87B-4DB3-8B39-A3CBB931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자동 제시는 근거가 명확한 범위에 제한하고, 불확실성은 숨기지 않고 ‘전문 검토 필요’로 반환합니다.</a:t>
            </a:r>
          </a:p>
        </p:txBody>
      </p:sp>
      <p:cxnSp>
        <p:nvCxnSpPr>
          <p:cNvPr id="56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cell-0-0">
            <a:extLst xmlns:a="http://schemas.openxmlformats.org/drawingml/2006/main">
              <a:ext uri="{FF2B5EF4-FFF2-40B4-BE49-F238E27FC236}">
                <a16:creationId xmlns:a16="http://schemas.microsoft.com/office/drawing/2014/main" id="{6C76A873-B40F-4670-A605-026B07C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4EDF9E-0D8B-4CB3-9116-665D4F77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6" name="cell-0-1">
            <a:extLst xmlns:a="http://schemas.openxmlformats.org/drawingml/2006/main">
              <a:ext uri="{FF2B5EF4-FFF2-40B4-BE49-F238E27FC236}">
                <a16:creationId xmlns:a16="http://schemas.microsoft.com/office/drawing/2014/main" id="{BB8B2F06-926C-4B72-93A5-E85C286A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14500"/>
            <a:ext cx="3219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BEFF5A-F491-4B99-A980-F448012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90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구현</a:t>
            </a:r>
          </a:p>
        </p:txBody>
      </p:sp>
      <p:sp>
        <p:nvSpPr>
          <p:cNvPr id="8" name="cell-0-2">
            <a:extLst xmlns:a="http://schemas.openxmlformats.org/drawingml/2006/main">
              <a:ext uri="{FF2B5EF4-FFF2-40B4-BE49-F238E27FC236}">
                <a16:creationId xmlns:a16="http://schemas.microsoft.com/office/drawing/2014/main" id="{E82B61AA-9A38-4526-B78A-C0380031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9F0C6C-2F1A-4673-8DE5-471D8C2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보수적 차단·경고</a:t>
            </a:r>
          </a:p>
        </p:txBody>
      </p:sp>
      <p:sp>
        <p:nvSpPr>
          <p:cNvPr id="10" name="cell-0-3">
            <a:extLst xmlns:a="http://schemas.openxmlformats.org/drawingml/2006/main">
              <a:ext uri="{FF2B5EF4-FFF2-40B4-BE49-F238E27FC236}">
                <a16:creationId xmlns:a16="http://schemas.microsoft.com/office/drawing/2014/main" id="{EA14B86C-2A86-4A18-96EE-B94D3A71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FCDA0F-3D55-4679-9E4B-F3085EA0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우선 검증</a:t>
            </a:r>
          </a:p>
        </p:txBody>
      </p:sp>
      <p:sp>
        <p:nvSpPr>
          <p:cNvPr id="12" name="cell-1-0">
            <a:extLst xmlns:a="http://schemas.openxmlformats.org/drawingml/2006/main">
              <a:ext uri="{FF2B5EF4-FFF2-40B4-BE49-F238E27FC236}">
                <a16:creationId xmlns:a16="http://schemas.microsoft.com/office/drawing/2014/main" id="{2BC01736-9D2C-457A-B432-84AF3C61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714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99372E-4358-4AE9-B392-742A9DA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진단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7FC8CBA6-F95A-4CE6-AEE5-72ABAEFF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33600"/>
            <a:ext cx="3219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D4AAA13-7639-4AA9-96FC-E6FEB34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09800"/>
            <a:ext cx="302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위험지역·발열, RDT, 도말, PCR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의심·추정·확인·6–12시간 반복</a:t>
            </a:r>
          </a:p>
        </p:txBody>
      </p:sp>
      <p:sp>
        <p:nvSpPr>
          <p:cNvPr id="16" name="cell-1-2">
            <a:extLst xmlns:a="http://schemas.openxmlformats.org/drawingml/2006/main">
              <a:ext uri="{FF2B5EF4-FFF2-40B4-BE49-F238E27FC236}">
                <a16:creationId xmlns:a16="http://schemas.microsoft.com/office/drawing/2014/main" id="{2F8325F8-8C18-47EB-9233-D491913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4CF11C6-A72D-4217-B94A-EF573AA1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단순 의심 단계에서는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경구 처방 후보 미제시</a:t>
            </a:r>
          </a:p>
        </p:txBody>
      </p:sp>
      <p:sp>
        <p:nvSpPr>
          <p:cNvPr id="18" name="cell-1-3">
            <a:extLst xmlns:a="http://schemas.openxmlformats.org/drawingml/2006/main">
              <a:ext uri="{FF2B5EF4-FFF2-40B4-BE49-F238E27FC236}">
                <a16:creationId xmlns:a16="http://schemas.microsoft.com/office/drawing/2014/main" id="{5E762D70-5D8C-4A47-A1EA-C5958825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266508-3392-4082-9399-50161CED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검사 알고리즘과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신고 문구</a:t>
            </a:r>
          </a:p>
        </p:txBody>
      </p:sp>
      <p:sp>
        <p:nvSpPr>
          <p:cNvPr id="20" name="cell-2-0">
            <a:extLst xmlns:a="http://schemas.openxmlformats.org/drawingml/2006/main">
              <a:ext uri="{FF2B5EF4-FFF2-40B4-BE49-F238E27FC236}">
                <a16:creationId xmlns:a16="http://schemas.microsoft.com/office/drawing/2014/main" id="{FED1DE32-2736-48BE-8836-7C06F9C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1714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3816CC8-7763-4AD5-843E-8520F5C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중증</a:t>
            </a:r>
          </a:p>
        </p:txBody>
      </p:sp>
      <p:sp>
        <p:nvSpPr>
          <p:cNvPr id="22" name="cell-2-1">
            <a:extLst xmlns:a="http://schemas.openxmlformats.org/drawingml/2006/main">
              <a:ext uri="{FF2B5EF4-FFF2-40B4-BE49-F238E27FC236}">
                <a16:creationId xmlns:a16="http://schemas.microsoft.com/office/drawing/2014/main" id="{5F4F48F6-D8D2-48FB-98FA-B83DD4E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3219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620859-C713-4AC9-83DD-92F3D9DB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0375"/>
            <a:ext cx="302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임상·검사 기준 자동 판정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전원·입원·IV artesunate</a:t>
            </a:r>
          </a:p>
        </p:txBody>
      </p:sp>
      <p:sp>
        <p:nvSpPr>
          <p:cNvPr id="24" name="cell-2-2">
            <a:extLst xmlns:a="http://schemas.openxmlformats.org/drawingml/2006/main">
              <a:ext uri="{FF2B5EF4-FFF2-40B4-BE49-F238E27FC236}">
                <a16:creationId xmlns:a16="http://schemas.microsoft.com/office/drawing/2014/main" id="{AA82C2AD-3AAD-44FD-8637-90DFD970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D4B21B9-33B4-41CA-BCC1-D5EB1B2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외래 경구 경로 중단</a:t>
            </a:r>
          </a:p>
        </p:txBody>
      </p:sp>
      <p:sp>
        <p:nvSpPr>
          <p:cNvPr id="26" name="cell-2-3">
            <a:extLst xmlns:a="http://schemas.openxmlformats.org/drawingml/2006/main">
              <a:ext uri="{FF2B5EF4-FFF2-40B4-BE49-F238E27FC236}">
                <a16:creationId xmlns:a16="http://schemas.microsoft.com/office/drawing/2014/main" id="{A4BD8FC3-27CB-4F64-917F-56FD10A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5013D66-76FF-447A-AE9B-A2BA24EE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수치 기준·임신·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원충종별 예외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0F227ECA-B172-4E1F-8D5D-518F127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714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CAA578F-FD01-4FD2-ACE6-D9E9862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국내 삼일열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8E1424A4-9F59-4043-8B7E-8863A73A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3219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CB33A70-97D3-40DA-983A-6312E777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302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HCQ 41–100 kg 표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Primaquine + G6PD 분기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51F9646E-381C-4471-9823-7984B61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FF06CAE-26BC-4C7D-9320-B1C0B12D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41 kg 미만·100 kg 초과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제형 반올림 검토</a:t>
            </a:r>
          </a:p>
        </p:txBody>
      </p:sp>
      <p:sp>
        <p:nvSpPr>
          <p:cNvPr id="34" name="cell-3-3">
            <a:extLst xmlns:a="http://schemas.openxmlformats.org/drawingml/2006/main">
              <a:ext uri="{FF2B5EF4-FFF2-40B4-BE49-F238E27FC236}">
                <a16:creationId xmlns:a16="http://schemas.microsoft.com/office/drawing/2014/main" id="{6294EDF3-FEBA-4AA6-A998-E9BFC73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279F089-81D3-4DF4-8E05-139AE4C3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국내 유통 제형·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약제부 검수</a:t>
            </a:r>
          </a:p>
        </p:txBody>
      </p:sp>
      <p:sp>
        <p:nvSpPr>
          <p:cNvPr id="36" name="cell-4-0">
            <a:extLst xmlns:a="http://schemas.openxmlformats.org/drawingml/2006/main">
              <a:ext uri="{FF2B5EF4-FFF2-40B4-BE49-F238E27FC236}">
                <a16:creationId xmlns:a16="http://schemas.microsoft.com/office/drawing/2014/main" id="{27A5A9A4-9E58-4A38-8DF6-09B64F2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1714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F7D8408-E143-4E81-90D5-7F0E50C4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81525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해외유입</a:t>
            </a:r>
          </a:p>
        </p:txBody>
      </p:sp>
      <p:sp>
        <p:nvSpPr>
          <p:cNvPr id="38" name="cell-4-1">
            <a:extLst xmlns:a="http://schemas.openxmlformats.org/drawingml/2006/main">
              <a:ext uri="{FF2B5EF4-FFF2-40B4-BE49-F238E27FC236}">
                <a16:creationId xmlns:a16="http://schemas.microsoft.com/office/drawing/2014/main" id="{997E9D08-2646-467C-BE06-ACBC7381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3219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BECF71A-FE56-42C7-885B-863C6D4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81525"/>
            <a:ext cx="302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Pyramax·Malarone·Mefloquine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예방약 중복 회피</a:t>
            </a:r>
          </a:p>
        </p:txBody>
      </p:sp>
      <p:sp>
        <p:nvSpPr>
          <p:cNvPr id="40" name="cell-4-2">
            <a:extLst xmlns:a="http://schemas.openxmlformats.org/drawingml/2006/main">
              <a:ext uri="{FF2B5EF4-FFF2-40B4-BE49-F238E27FC236}">
                <a16:creationId xmlns:a16="http://schemas.microsoft.com/office/drawing/2014/main" id="{6CFCCE95-756B-4BC1-A516-8D550511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05325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5BDDCD9-7C34-4F5E-A4F5-8561D56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81525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원충종 미확인 시 열대열 간주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간질환·임신 경고</a:t>
            </a:r>
          </a:p>
        </p:txBody>
      </p:sp>
      <p:sp>
        <p:nvSpPr>
          <p:cNvPr id="42" name="cell-4-3">
            <a:extLst xmlns:a="http://schemas.openxmlformats.org/drawingml/2006/main">
              <a:ext uri="{FF2B5EF4-FFF2-40B4-BE49-F238E27FC236}">
                <a16:creationId xmlns:a16="http://schemas.microsoft.com/office/drawing/2014/main" id="{7AEE87D1-AAC9-4C2E-98A1-3538DC1B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B0369FBE-990C-4095-B160-7B5B67D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81525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국가별 내성·재고·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입원 원칙</a:t>
            </a:r>
          </a:p>
        </p:txBody>
      </p:sp>
      <p:sp>
        <p:nvSpPr>
          <p:cNvPr id="44" name="cell-5-0">
            <a:extLst xmlns:a="http://schemas.openxmlformats.org/drawingml/2006/main">
              <a:ext uri="{FF2B5EF4-FFF2-40B4-BE49-F238E27FC236}">
                <a16:creationId xmlns:a16="http://schemas.microsoft.com/office/drawing/2014/main" id="{FB8D7D1F-479B-41E4-A1E9-3950AE55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714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48C8EED-A976-4373-B609-952FF60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특수집단</a:t>
            </a:r>
          </a:p>
        </p:txBody>
      </p:sp>
      <p:sp>
        <p:nvSpPr>
          <p:cNvPr id="46" name="cell-5-1">
            <a:extLst xmlns:a="http://schemas.openxmlformats.org/drawingml/2006/main">
              <a:ext uri="{FF2B5EF4-FFF2-40B4-BE49-F238E27FC236}">
                <a16:creationId xmlns:a16="http://schemas.microsoft.com/office/drawing/2014/main" id="{3A19020D-3D77-41D5-81D1-00AC443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95900"/>
            <a:ext cx="3219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363DA5CE-FE89-47D7-8094-74415A95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72100"/>
            <a:ext cx="3028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임신·수유·G6PD·소아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기본 분기</a:t>
            </a:r>
          </a:p>
        </p:txBody>
      </p:sp>
      <p:sp>
        <p:nvSpPr>
          <p:cNvPr id="48" name="cell-5-2">
            <a:extLst xmlns:a="http://schemas.openxmlformats.org/drawingml/2006/main">
              <a:ext uri="{FF2B5EF4-FFF2-40B4-BE49-F238E27FC236}">
                <a16:creationId xmlns:a16="http://schemas.microsoft.com/office/drawing/2014/main" id="{A01B63EF-1EC2-4C29-8B7B-5AE42472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FFF6485-070E-4C8C-9041-2BD3255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7210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5 kg 미만·생후 3개월 미만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전문 진료</a:t>
            </a:r>
          </a:p>
        </p:txBody>
      </p:sp>
      <p:sp>
        <p:nvSpPr>
          <p:cNvPr id="50" name="cell-5-3">
            <a:extLst xmlns:a="http://schemas.openxmlformats.org/drawingml/2006/main">
              <a:ext uri="{FF2B5EF4-FFF2-40B4-BE49-F238E27FC236}">
                <a16:creationId xmlns:a16="http://schemas.microsoft.com/office/drawing/2014/main" id="{C1B718A6-6AC2-4DAE-9522-2C5D04B8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3238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76D1D317-2180-4A08-929C-9190E2C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7210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소아감염·산과·</a:t>
            </a:r>
          </a:p>
          <a:p xmlns:a="http://schemas.openxmlformats.org/drawingml/2006/main">
            <a:pPr algn="l">
              <a:def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2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약물 안전성</a:t>
            </a:r>
          </a:p>
        </p:txBody>
      </p:sp>
      <p:sp>
        <p:nvSpPr>
          <p:cNvPr id="52" name="source">
            <a:extLst xmlns:a="http://schemas.openxmlformats.org/drawingml/2006/main">
              <a:ext uri="{FF2B5EF4-FFF2-40B4-BE49-F238E27FC236}">
                <a16:creationId xmlns:a16="http://schemas.microsoft.com/office/drawing/2014/main" id="{D9B0C593-0DDB-4CE0-B0D0-C68F586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Detailed scope: docs/clinical-rules.md · Current rule date: 2026.03.30</a:t>
            </a:r>
          </a:p>
        </p:txBody>
      </p:sp>
      <p:sp>
        <p:nvSpPr>
          <p:cNvPr id="53" name="footer">
            <a:extLst xmlns:a="http://schemas.openxmlformats.org/drawingml/2006/main">
              <a:ext uri="{FF2B5EF4-FFF2-40B4-BE49-F238E27FC236}">
                <a16:creationId xmlns:a16="http://schemas.microsoft.com/office/drawing/2014/main" id="{7ED56FDE-0B50-4E5E-B583-9BF23659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07</a:t>
            </a:r>
          </a:p>
        </p:txBody>
      </p:sp>
    </p:spTree>
    <p:extLst>
      <p:ext uri="{BB962C8B-B14F-4D97-AF65-F5344CB8AC3E}">
        <p14:creationId xmlns:p14="http://schemas.microsoft.com/office/powerpoint/2010/main" val="2111437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63BE76-A0F0-450C-BA0D-6427CFE8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 입력은 브라우저를 벗어나지 않는 정적 구조입니다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7B13C4-B311-48BB-9312-35A5190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서비스 계층은 화면 파일을 전달할 뿐이며, 임상값은 URL·API·데이터베이스로 전송하지 않습니다.</a:t>
            </a:r>
          </a:p>
        </p:txBody>
      </p:sp>
      <p:cxnSp>
        <p:nvCxnSpPr>
          <p:cNvPr id="31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github">
            <a:extLst xmlns:a="http://schemas.openxmlformats.org/drawingml/2006/main">
              <a:ext uri="{FF2B5EF4-FFF2-40B4-BE49-F238E27FC236}">
                <a16:creationId xmlns:a16="http://schemas.microsoft.com/office/drawing/2014/main" id="{B44F770C-0A3D-4FFF-8E71-D5A7C49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gcs">
            <a:extLst xmlns:a="http://schemas.openxmlformats.org/drawingml/2006/main">
              <a:ext uri="{FF2B5EF4-FFF2-40B4-BE49-F238E27FC236}">
                <a16:creationId xmlns:a16="http://schemas.microsoft.com/office/drawing/2014/main" id="{C0D547FF-C8E0-4785-A75F-190D6489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" name="edge">
            <a:extLst xmlns:a="http://schemas.openxmlformats.org/drawingml/2006/main">
              <a:ext uri="{FF2B5EF4-FFF2-40B4-BE49-F238E27FC236}">
                <a16:creationId xmlns:a16="http://schemas.microsoft.com/office/drawing/2014/main" id="{576EB7F2-786A-4BB7-9949-7E513B0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2381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9525">
            <a:solidFill>
              <a:srgbClr val="2E6B78"/>
            </a:solidFill>
            <a:prstDash val="solid"/>
          </a:ln>
        </p:spPr>
      </p:sp>
      <p:sp>
        <p:nvSpPr>
          <p:cNvPr id="7" name="browser">
            <a:extLst xmlns:a="http://schemas.openxmlformats.org/drawingml/2006/main">
              <a:ext uri="{FF2B5EF4-FFF2-40B4-BE49-F238E27FC236}">
                <a16:creationId xmlns:a16="http://schemas.microsoft.com/office/drawing/2014/main" id="{470C18C5-878D-49BE-8600-60B48B5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20193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173A45"/>
            </a:solidFill>
            <a:prstDash val="solid"/>
          </a:ln>
        </p:spPr>
      </p:sp>
      <p:sp>
        <p:nvSpPr>
          <p:cNvPr id="8" name="engine">
            <a:extLst xmlns:a="http://schemas.openxmlformats.org/drawingml/2006/main">
              <a:ext uri="{FF2B5EF4-FFF2-40B4-BE49-F238E27FC236}">
                <a16:creationId xmlns:a16="http://schemas.microsoft.com/office/drawing/2014/main" id="{28DF5E73-3632-4362-A64E-DA6532C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5429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B78"/>
            </a:solidFill>
            <a:prstDash val="solid"/>
          </a:ln>
        </p:spPr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25527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C7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43600" y="25527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C7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91600" y="25527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991600" y="3314700"/>
            <a:ext cx="1676400" cy="1409700"/>
          </a:xfrm>
          <a:prstGeom xmlns:a="http://schemas.openxmlformats.org/drawingml/2006/main" prst="bentConnector5">
            <a:avLst>
              <a:gd name="adj1" fmla="val 0"/>
              <a:gd name="adj2" fmla="val 16216"/>
              <a:gd name="adj3" fmla="val 86364"/>
            </a:avLst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3EE9EC-2A29-41F3-A8C4-BEB518A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rPr>
              <a:t>GitHub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9B8C0A6-2C03-400A-B544-764A0B2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공개 소스·MIT</a:t>
            </a:r>
          </a:p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변경 이력·리뷰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0C1246-C5F1-4491-9881-69F63BF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rPr>
              <a:t>Google Cloud Storage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F46087-18AE-4BF2-8FEE-12021F7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정적 파일 5개</a:t>
            </a:r>
          </a:p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HTML · JS · CSS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072F888-A83A-493A-AB69-1DF33749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1D"/>
                </a:solidFill>
                <a:latin typeface="Helvetica Neue"/>
                <a:ea typeface="Helvetica Neue"/>
                <a:cs typeface="Helvetica Neue"/>
              </a:rPr>
              <a:t>Cloudflare Worker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E25156-689C-413D-812E-3125634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HTTPS · 캐시</a:t>
            </a:r>
          </a:p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허용 경로·보안 헤더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45FD8A1-6E04-4541-AF95-10DA606C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764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의료진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브라우저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A0BCC0-EF96-47C0-9220-578B810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003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환자 입력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45730F-7AAD-412B-B8E1-807E854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76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브라우저 내부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FF356BE-1550-4F44-AAEA-C5D1F5E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4895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Vanilla JavaScript 결정론적 규칙 엔진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675EEFA-6E44-44E3-8F57-D370243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53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입력 수집 → 진단·중증·용량 계산 → DOM 결과 표시</a:t>
            </a:r>
          </a:p>
        </p:txBody>
      </p:sp>
      <p:sp>
        <p:nvSpPr>
          <p:cNvPr id="24" name="no-data">
            <a:extLst xmlns:a="http://schemas.openxmlformats.org/drawingml/2006/main">
              <a:ext uri="{FF2B5EF4-FFF2-40B4-BE49-F238E27FC236}">
                <a16:creationId xmlns:a16="http://schemas.microsoft.com/office/drawing/2014/main" id="{F6BBCDDD-EDCA-4BBD-A1D2-5889C137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381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AD71A27-7CA1-4DD9-A676-D6725D75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의도적으로 없음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1D5E88E-6AFE-4896-B4D4-39C9EFA7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외부 임상 API</a:t>
            </a:r>
          </a:p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 DB·로그 저장</a:t>
            </a:r>
          </a:p>
          <a:p xmlns:a="http://schemas.openxmlformats.org/drawingml/2006/main">
            <a:pPr algn="l">
              <a:def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LLM·생성형 AI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1FB76B67-0A75-44A3-BB75-14509105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Deployment config: GCS origin + Cloudflare Worker custom domain · Static runtime only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C2E29EDD-A11E-4D50-959E-A5CA613A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08</a:t>
            </a:r>
          </a:p>
        </p:txBody>
      </p:sp>
    </p:spTree>
    <p:extLst>
      <p:ext uri="{BB962C8B-B14F-4D97-AF65-F5344CB8AC3E}">
        <p14:creationId xmlns:p14="http://schemas.microsoft.com/office/powerpoint/2010/main" val="902535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62046-943B-4390-ABA0-9CDE317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기술 스택은 작고, 공개적으로 검토 가능하며, 교체 비용이 낮습니다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D58882-986D-4E2B-8078-AE4A865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운영 런타임과 개발 도구를 구분해 장기 유지보수 부담을 줄였습니다.</a:t>
            </a:r>
          </a:p>
        </p:txBody>
      </p:sp>
      <p:cxnSp>
        <p:nvCxnSpPr>
          <p:cNvPr id="80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cell-0-0">
            <a:extLst xmlns:a="http://schemas.openxmlformats.org/drawingml/2006/main">
              <a:ext uri="{FF2B5EF4-FFF2-40B4-BE49-F238E27FC236}">
                <a16:creationId xmlns:a16="http://schemas.microsoft.com/office/drawing/2014/main" id="{DAB2AA00-EA9F-4957-AAD2-358A394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4B5DA2-122F-414F-8390-FA11D78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계층</a:t>
            </a:r>
          </a:p>
        </p:txBody>
      </p:sp>
      <p:sp>
        <p:nvSpPr>
          <p:cNvPr id="6" name="cell-0-1">
            <a:extLst xmlns:a="http://schemas.openxmlformats.org/drawingml/2006/main">
              <a:ext uri="{FF2B5EF4-FFF2-40B4-BE49-F238E27FC236}">
                <a16:creationId xmlns:a16="http://schemas.microsoft.com/office/drawing/2014/main" id="{BEA03C56-B45A-4B92-9774-02B89F1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764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967E32-619C-4B9A-B93F-1A53F08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52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기술</a:t>
            </a:r>
          </a:p>
        </p:txBody>
      </p:sp>
      <p:sp>
        <p:nvSpPr>
          <p:cNvPr id="8" name="cell-0-2">
            <a:extLst xmlns:a="http://schemas.openxmlformats.org/drawingml/2006/main">
              <a:ext uri="{FF2B5EF4-FFF2-40B4-BE49-F238E27FC236}">
                <a16:creationId xmlns:a16="http://schemas.microsoft.com/office/drawing/2014/main" id="{91E44DC4-158A-439B-951D-090728C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423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8737B3-F2DF-48D1-9BE9-AD775F6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526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cell-0-3">
            <a:extLst xmlns:a="http://schemas.openxmlformats.org/drawingml/2006/main">
              <a:ext uri="{FF2B5EF4-FFF2-40B4-BE49-F238E27FC236}">
                <a16:creationId xmlns:a16="http://schemas.microsoft.com/office/drawing/2014/main" id="{6D59BEAD-3AA8-48B5-BCA6-71917F4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76400"/>
            <a:ext cx="2886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6AF0DD-31A7-4D91-A80D-0B53A67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752600"/>
            <a:ext cx="269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여부</a:t>
            </a:r>
          </a:p>
        </p:txBody>
      </p:sp>
      <p:sp>
        <p:nvSpPr>
          <p:cNvPr id="12" name="cell-1-0">
            <a:extLst xmlns:a="http://schemas.openxmlformats.org/drawingml/2006/main">
              <a:ext uri="{FF2B5EF4-FFF2-40B4-BE49-F238E27FC236}">
                <a16:creationId xmlns:a16="http://schemas.microsoft.com/office/drawing/2014/main" id="{247B3D77-3FEE-4FC2-B442-E354AFB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F622E1-D021-492E-87B5-86DADB82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UI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3BE9586F-CCAB-407B-B42C-4E7A80B6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57400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D73347-B4D3-47FE-98BD-4330164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360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HTML5 · CSS3 · Vanilla JS</a:t>
            </a:r>
          </a:p>
        </p:txBody>
      </p:sp>
      <p:sp>
        <p:nvSpPr>
          <p:cNvPr id="16" name="cell-1-2">
            <a:extLst xmlns:a="http://schemas.openxmlformats.org/drawingml/2006/main">
              <a:ext uri="{FF2B5EF4-FFF2-40B4-BE49-F238E27FC236}">
                <a16:creationId xmlns:a16="http://schemas.microsoft.com/office/drawing/2014/main" id="{C9C23442-026D-4CB1-802F-ADE9AB2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2BFE98-094B-4ABC-881D-449D991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336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의료진 입력·결과·반응형 화면</a:t>
            </a:r>
          </a:p>
        </p:txBody>
      </p:sp>
      <p:sp>
        <p:nvSpPr>
          <p:cNvPr id="18" name="cell-1-3">
            <a:extLst xmlns:a="http://schemas.openxmlformats.org/drawingml/2006/main">
              <a:ext uri="{FF2B5EF4-FFF2-40B4-BE49-F238E27FC236}">
                <a16:creationId xmlns:a16="http://schemas.microsoft.com/office/drawing/2014/main" id="{397B5FD7-793D-40C4-98FC-E018DEB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57400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FBF7CD-CD5B-4AB4-B12D-955B431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3360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브라우저 런타임</a:t>
            </a:r>
          </a:p>
        </p:txBody>
      </p:sp>
      <p:sp>
        <p:nvSpPr>
          <p:cNvPr id="20" name="cell-2-0">
            <a:extLst xmlns:a="http://schemas.openxmlformats.org/drawingml/2006/main">
              <a:ext uri="{FF2B5EF4-FFF2-40B4-BE49-F238E27FC236}">
                <a16:creationId xmlns:a16="http://schemas.microsoft.com/office/drawing/2014/main" id="{F6AA801D-B570-4549-A1E1-53BDFA1A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965703-B05F-457D-9DD1-61C0ADD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임상 규칙</a:t>
            </a:r>
          </a:p>
        </p:txBody>
      </p:sp>
      <p:sp>
        <p:nvSpPr>
          <p:cNvPr id="22" name="cell-2-1">
            <a:extLst xmlns:a="http://schemas.openxmlformats.org/drawingml/2006/main">
              <a:ext uri="{FF2B5EF4-FFF2-40B4-BE49-F238E27FC236}">
                <a16:creationId xmlns:a16="http://schemas.microsoft.com/office/drawing/2014/main" id="{7D9C9735-2ACF-46C6-A2EB-1088343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62225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3A6A23-246E-4212-95B9-17AF01E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384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JavaScript ES Modules</a:t>
            </a:r>
          </a:p>
        </p:txBody>
      </p:sp>
      <p:sp>
        <p:nvSpPr>
          <p:cNvPr id="24" name="cell-2-2">
            <a:extLst xmlns:a="http://schemas.openxmlformats.org/drawingml/2006/main">
              <a:ext uri="{FF2B5EF4-FFF2-40B4-BE49-F238E27FC236}">
                <a16:creationId xmlns:a16="http://schemas.microsoft.com/office/drawing/2014/main" id="{E464FA61-655B-4CFF-B169-3A5CE38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E0E5C20-2FB8-4F25-8E17-C656FDC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38425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결정론적 진단·중증·용량 함수</a:t>
            </a:r>
          </a:p>
        </p:txBody>
      </p:sp>
      <p:sp>
        <p:nvSpPr>
          <p:cNvPr id="26" name="cell-2-3">
            <a:extLst xmlns:a="http://schemas.openxmlformats.org/drawingml/2006/main">
              <a:ext uri="{FF2B5EF4-FFF2-40B4-BE49-F238E27FC236}">
                <a16:creationId xmlns:a16="http://schemas.microsoft.com/office/drawing/2014/main" id="{97772D92-E70A-4E87-B9A3-36826E6B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62225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3755788-527A-4764-96C8-C456F4F5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38425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브라우저 런타임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609D8950-B0AF-4646-99E4-C30428E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2C2D366-AF45-4D24-8788-74CA2E2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정적 원본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5FEE963D-5DD4-409E-8EEE-185158E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67050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37EE12C-661F-41BE-BF1B-78CE8A13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4325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Google Cloud Storage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49AD6A73-4B1D-43E9-9C62-E389A73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2AE9B01-ED4D-4CAE-A0F3-7FF0665E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허용된 5개 공개 파일 보관</a:t>
            </a:r>
          </a:p>
        </p:txBody>
      </p:sp>
      <p:sp>
        <p:nvSpPr>
          <p:cNvPr id="34" name="cell-3-3">
            <a:extLst xmlns:a="http://schemas.openxmlformats.org/drawingml/2006/main">
              <a:ext uri="{FF2B5EF4-FFF2-40B4-BE49-F238E27FC236}">
                <a16:creationId xmlns:a16="http://schemas.microsoft.com/office/drawing/2014/main" id="{5AF27A06-6CB5-4C36-8E9F-44F025FC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67050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D40F419-1784-44E1-BEA2-B1389C4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4325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</a:p>
        </p:txBody>
      </p:sp>
      <p:sp>
        <p:nvSpPr>
          <p:cNvPr id="36" name="cell-4-0">
            <a:extLst xmlns:a="http://schemas.openxmlformats.org/drawingml/2006/main">
              <a:ext uri="{FF2B5EF4-FFF2-40B4-BE49-F238E27FC236}">
                <a16:creationId xmlns:a16="http://schemas.microsoft.com/office/drawing/2014/main" id="{C2DBD497-ED91-4FA5-90F3-1FC85DF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30F4CA9-75A9-48AB-B9D8-BCC7C99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엣지</a:t>
            </a:r>
          </a:p>
        </p:txBody>
      </p:sp>
      <p:sp>
        <p:nvSpPr>
          <p:cNvPr id="38" name="cell-4-1">
            <a:extLst xmlns:a="http://schemas.openxmlformats.org/drawingml/2006/main">
              <a:ext uri="{FF2B5EF4-FFF2-40B4-BE49-F238E27FC236}">
                <a16:creationId xmlns:a16="http://schemas.microsoft.com/office/drawing/2014/main" id="{FB667732-11FA-48F4-B43E-FD5F635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71875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1AA7F3C-F5BE-4AB4-AFA6-A52F6B5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4807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Cloudflare Worker</a:t>
            </a:r>
          </a:p>
        </p:txBody>
      </p:sp>
      <p:sp>
        <p:nvSpPr>
          <p:cNvPr id="40" name="cell-4-2">
            <a:extLst xmlns:a="http://schemas.openxmlformats.org/drawingml/2006/main">
              <a:ext uri="{FF2B5EF4-FFF2-40B4-BE49-F238E27FC236}">
                <a16:creationId xmlns:a16="http://schemas.microsoft.com/office/drawing/2014/main" id="{94E6B565-A944-4367-9119-E687A8A4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71875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DE60C0A-1667-4CEB-B1DF-075F1C2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48075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Custom domain·HTTPS·CSP·캐시</a:t>
            </a:r>
          </a:p>
        </p:txBody>
      </p:sp>
      <p:sp>
        <p:nvSpPr>
          <p:cNvPr id="42" name="cell-4-3">
            <a:extLst xmlns:a="http://schemas.openxmlformats.org/drawingml/2006/main">
              <a:ext uri="{FF2B5EF4-FFF2-40B4-BE49-F238E27FC236}">
                <a16:creationId xmlns:a16="http://schemas.microsoft.com/office/drawing/2014/main" id="{89023133-6FDD-4C3F-A192-DE99535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71875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3977DB41-868D-4CBC-AF7B-7C90A43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48075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</a:p>
        </p:txBody>
      </p:sp>
      <p:sp>
        <p:nvSpPr>
          <p:cNvPr id="44" name="cell-5-0">
            <a:extLst xmlns:a="http://schemas.openxmlformats.org/drawingml/2006/main">
              <a:ext uri="{FF2B5EF4-FFF2-40B4-BE49-F238E27FC236}">
                <a16:creationId xmlns:a16="http://schemas.microsoft.com/office/drawing/2014/main" id="{B32726C1-84F7-4661-AFAA-094291B9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1BD33E6-51FA-47B4-8660-FADBA2E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46" name="cell-5-1">
            <a:extLst xmlns:a="http://schemas.openxmlformats.org/drawingml/2006/main">
              <a:ext uri="{FF2B5EF4-FFF2-40B4-BE49-F238E27FC236}">
                <a16:creationId xmlns:a16="http://schemas.microsoft.com/office/drawing/2014/main" id="{9383BCA8-0645-4DC1-9C36-1CBED70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76700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9E3A4F73-0095-4111-AD47-979D8DA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5290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Node.js 22 · assert</a:t>
            </a:r>
          </a:p>
        </p:txBody>
      </p:sp>
      <p:sp>
        <p:nvSpPr>
          <p:cNvPr id="48" name="cell-5-2">
            <a:extLst xmlns:a="http://schemas.openxmlformats.org/drawingml/2006/main">
              <a:ext uri="{FF2B5EF4-FFF2-40B4-BE49-F238E27FC236}">
                <a16:creationId xmlns:a16="http://schemas.microsoft.com/office/drawing/2014/main" id="{60927E65-A1FD-464F-B65E-6787014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7773FCD-8204-49F8-93FB-90D33A99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52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대표·경계·안전 분기 시나리오 테스트</a:t>
            </a:r>
          </a:p>
        </p:txBody>
      </p:sp>
      <p:sp>
        <p:nvSpPr>
          <p:cNvPr id="50" name="cell-5-3">
            <a:extLst xmlns:a="http://schemas.openxmlformats.org/drawingml/2006/main">
              <a:ext uri="{FF2B5EF4-FFF2-40B4-BE49-F238E27FC236}">
                <a16:creationId xmlns:a16="http://schemas.microsoft.com/office/drawing/2014/main" id="{55829090-5F54-4779-9F86-BC3F758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76700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2C015FED-5484-403A-9DAC-055361C3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개발·CI</a:t>
            </a:r>
          </a:p>
        </p:txBody>
      </p:sp>
      <p:sp>
        <p:nvSpPr>
          <p:cNvPr id="52" name="cell-6-0">
            <a:extLst xmlns:a="http://schemas.openxmlformats.org/drawingml/2006/main">
              <a:ext uri="{FF2B5EF4-FFF2-40B4-BE49-F238E27FC236}">
                <a16:creationId xmlns:a16="http://schemas.microsoft.com/office/drawing/2014/main" id="{0F68E0DA-18FF-407E-BA37-0698D630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62172564-A584-4039-B49D-B68CAFD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77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빌드</a:t>
            </a:r>
          </a:p>
        </p:txBody>
      </p:sp>
      <p:sp>
        <p:nvSpPr>
          <p:cNvPr id="54" name="cell-6-1">
            <a:extLst xmlns:a="http://schemas.openxmlformats.org/drawingml/2006/main">
              <a:ext uri="{FF2B5EF4-FFF2-40B4-BE49-F238E27FC236}">
                <a16:creationId xmlns:a16="http://schemas.microsoft.com/office/drawing/2014/main" id="{E0267E69-302E-4176-A240-DA3AA3A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81525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78F66A33-4903-4E57-81B6-68A992F3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577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Bash</a:t>
            </a:r>
          </a:p>
        </p:txBody>
      </p:sp>
      <p:sp>
        <p:nvSpPr>
          <p:cNvPr id="56" name="cell-6-2">
            <a:extLst xmlns:a="http://schemas.openxmlformats.org/drawingml/2006/main">
              <a:ext uri="{FF2B5EF4-FFF2-40B4-BE49-F238E27FC236}">
                <a16:creationId xmlns:a16="http://schemas.microsoft.com/office/drawing/2014/main" id="{CEBC632A-2D5C-4212-8F8E-8066EFB1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446D6444-4224-42E9-B015-48FED654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57725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frontend → dist 정적 번들</a:t>
            </a:r>
          </a:p>
        </p:txBody>
      </p:sp>
      <p:sp>
        <p:nvSpPr>
          <p:cNvPr id="58" name="cell-6-3">
            <a:extLst xmlns:a="http://schemas.openxmlformats.org/drawingml/2006/main">
              <a:ext uri="{FF2B5EF4-FFF2-40B4-BE49-F238E27FC236}">
                <a16:creationId xmlns:a16="http://schemas.microsoft.com/office/drawing/2014/main" id="{7348F4EA-785D-453B-B903-B59C46FE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81525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A07D8B22-E5BB-4A12-BFE6-67A2AFA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57725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배포 시</a:t>
            </a:r>
          </a:p>
        </p:txBody>
      </p:sp>
      <p:sp>
        <p:nvSpPr>
          <p:cNvPr id="60" name="cell-7-0">
            <a:extLst xmlns:a="http://schemas.openxmlformats.org/drawingml/2006/main">
              <a:ext uri="{FF2B5EF4-FFF2-40B4-BE49-F238E27FC236}">
                <a16:creationId xmlns:a16="http://schemas.microsoft.com/office/drawing/2014/main" id="{5AEDB2C9-9241-452A-AAFD-ABC4C923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59FABEC3-FE08-4681-AC71-09D773DE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로컬 서버</a:t>
            </a:r>
          </a:p>
        </p:txBody>
      </p:sp>
      <p:sp>
        <p:nvSpPr>
          <p:cNvPr id="62" name="cell-7-1">
            <a:extLst xmlns:a="http://schemas.openxmlformats.org/drawingml/2006/main">
              <a:ext uri="{FF2B5EF4-FFF2-40B4-BE49-F238E27FC236}">
                <a16:creationId xmlns:a16="http://schemas.microsoft.com/office/drawing/2014/main" id="{4CA31341-E7EA-4774-B74A-024DAE3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86350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ED832C47-D558-4231-A1B0-6B5BBC03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6255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FastAPI · Uvicorn</a:t>
            </a:r>
          </a:p>
        </p:txBody>
      </p:sp>
      <p:sp>
        <p:nvSpPr>
          <p:cNvPr id="64" name="cell-7-2">
            <a:extLst xmlns:a="http://schemas.openxmlformats.org/drawingml/2006/main">
              <a:ext uri="{FF2B5EF4-FFF2-40B4-BE49-F238E27FC236}">
                <a16:creationId xmlns:a16="http://schemas.microsoft.com/office/drawing/2014/main" id="{359C7633-6C13-458A-8358-D56A0C9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86350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7C194411-2BC1-4FBB-940D-60C464F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6255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로컬 미리보기·health endpoint</a:t>
            </a:r>
          </a:p>
        </p:txBody>
      </p:sp>
      <p:sp>
        <p:nvSpPr>
          <p:cNvPr id="66" name="cell-7-3">
            <a:extLst xmlns:a="http://schemas.openxmlformats.org/drawingml/2006/main">
              <a:ext uri="{FF2B5EF4-FFF2-40B4-BE49-F238E27FC236}">
                <a16:creationId xmlns:a16="http://schemas.microsoft.com/office/drawing/2014/main" id="{1073F9D1-E90F-4645-8966-C2E46879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86350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FE2B3A19-D36B-401F-91FE-6B2E68C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6255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선택 사항</a:t>
            </a:r>
          </a:p>
        </p:txBody>
      </p:sp>
      <p:sp>
        <p:nvSpPr>
          <p:cNvPr id="68" name="cell-8-0">
            <a:extLst xmlns:a="http://schemas.openxmlformats.org/drawingml/2006/main">
              <a:ext uri="{FF2B5EF4-FFF2-40B4-BE49-F238E27FC236}">
                <a16:creationId xmlns:a16="http://schemas.microsoft.com/office/drawing/2014/main" id="{A3968FCB-6DCD-4759-839A-32BB8D2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524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8C32E8C8-4C1F-4130-821E-3F1AAFA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6737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형상관리</a:t>
            </a:r>
          </a:p>
        </p:txBody>
      </p:sp>
      <p:sp>
        <p:nvSpPr>
          <p:cNvPr id="70" name="cell-8-1">
            <a:extLst xmlns:a="http://schemas.openxmlformats.org/drawingml/2006/main">
              <a:ext uri="{FF2B5EF4-FFF2-40B4-BE49-F238E27FC236}">
                <a16:creationId xmlns:a16="http://schemas.microsoft.com/office/drawing/2014/main" id="{F8021C47-1E24-4A56-9E46-85D40D1A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91175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662F5A05-1059-43EE-9C34-A234AED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6737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GitHub · MIT License</a:t>
            </a:r>
          </a:p>
        </p:txBody>
      </p:sp>
      <p:sp>
        <p:nvSpPr>
          <p:cNvPr id="72" name="cell-8-2">
            <a:extLst xmlns:a="http://schemas.openxmlformats.org/drawingml/2006/main">
              <a:ext uri="{FF2B5EF4-FFF2-40B4-BE49-F238E27FC236}">
                <a16:creationId xmlns:a16="http://schemas.microsoft.com/office/drawing/2014/main" id="{78D8B539-33BF-40EE-8E82-0ECCB35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91175"/>
            <a:ext cx="4238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089474B4-B3FE-4E4D-9208-01F6D47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67375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공개 코드·이슈·변경 이력</a:t>
            </a:r>
          </a:p>
        </p:txBody>
      </p:sp>
      <p:sp>
        <p:nvSpPr>
          <p:cNvPr id="74" name="cell-8-3">
            <a:extLst xmlns:a="http://schemas.openxmlformats.org/drawingml/2006/main">
              <a:ext uri="{FF2B5EF4-FFF2-40B4-BE49-F238E27FC236}">
                <a16:creationId xmlns:a16="http://schemas.microsoft.com/office/drawing/2014/main" id="{AF41B83B-8101-4E51-9C29-D440757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591175"/>
            <a:ext cx="28860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E3D3CC09-B70E-48B9-8B47-59996B3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667375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운영 거버넌스</a:t>
            </a:r>
          </a:p>
        </p:txBody>
      </p:sp>
      <p:sp>
        <p:nvSpPr>
          <p:cNvPr id="76" name="source">
            <a:extLst xmlns:a="http://schemas.openxmlformats.org/drawingml/2006/main">
              <a:ext uri="{FF2B5EF4-FFF2-40B4-BE49-F238E27FC236}">
                <a16:creationId xmlns:a16="http://schemas.microsoft.com/office/drawing/2014/main" id="{FBD39627-C7CD-4561-AB59-494D109D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Repository: github.com/jsbang01357/MalariaFrame · Runtime has no framework dependency and no external AI service.</a:t>
            </a:r>
          </a:p>
        </p:txBody>
      </p:sp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F42047A4-9EDA-45C5-AC2F-071FC9BC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09</a:t>
            </a:r>
          </a:p>
        </p:txBody>
      </p:sp>
    </p:spTree>
    <p:extLst>
      <p:ext uri="{BB962C8B-B14F-4D97-AF65-F5344CB8AC3E}">
        <p14:creationId xmlns:p14="http://schemas.microsoft.com/office/powerpoint/2010/main" val="1387225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0EE881-80E5-4BD7-8C15-4C392164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개인정보를 모으지 않는 것이 가장 큰 보안 통제입니다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09518B-E98B-4593-87B1-1455824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임상값이 서버로 이동하지 않도록 설계하고, 정적 자산 전달 경로도 최소 권한으로 제한했습니다.</a:t>
            </a:r>
          </a:p>
        </p:txBody>
      </p:sp>
      <p:cxnSp>
        <p:nvCxnSpPr>
          <p:cNvPr id="30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0937F766-C177-4B1B-B067-CE5FC95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861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C3B4DF-895C-43AE-846E-9996C6A4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99384E-D52B-49C2-AD4B-5D787B4A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외부 임상 API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2FB8CC-5F28-4B0B-B4D5-D3595C2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connect-src 'none'</a:t>
            </a:r>
          </a:p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브라우저 밖 전송 차단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E0E96AC0-C90B-4B28-8343-A305A13D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4861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DC526F-A725-4642-AF61-5F7A75D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F15973-FB55-41EC-A3B7-44A8C71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33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환자정보 저장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1750DE-AE68-4DC9-A06F-77E6890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이름·등록번호 미수집</a:t>
            </a:r>
          </a:p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DB·브라우저 저장소 미사용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7CF6BFCA-6CE4-4624-9718-6F28B033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861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8C1B7E-7AC0-4835-BAE2-0BB5296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70BFD39-F1D4-4BEA-B5B0-36D9063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배포 정적 파일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AB5636-0BE3-4CFC-8BA6-ED9BBB9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HTML 2 · JavaScript 2 · CSS 1</a:t>
            </a:r>
          </a:p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경로 allowlist</a:t>
            </a:r>
          </a:p>
        </p:txBody>
      </p:sp>
      <p:sp>
        <p:nvSpPr>
          <p:cNvPr id="16" name="security-controls">
            <a:extLst xmlns:a="http://schemas.openxmlformats.org/drawingml/2006/main">
              <a:ext uri="{FF2B5EF4-FFF2-40B4-BE49-F238E27FC236}">
                <a16:creationId xmlns:a16="http://schemas.microsoft.com/office/drawing/2014/main" id="{D27F7160-A6A1-4682-8EB5-D7464E4F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112204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9B74D8-BB66-466B-8AA0-F1F149CF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전달 계층 통제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6DD22BC-58D0-4C75-AEAF-67568B3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69491F-F407-4A25-B422-F0D8BED3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482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GET·HEAD만 허용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717CB7D-693B-4B93-9342-83B488B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67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FA6945-DE30-4CC1-85EF-4D17F65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482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CSP·frame-ancestors 'none'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C4F2F88-8B35-4745-92E5-321BA688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61916B9-EE8C-4451-90C6-7CEF46E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482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카메라·위치·마이크 권한 비활성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143D304-9727-44FC-B987-C48FFB7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67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0566219-0196-499D-B9BF-858686D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482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No-referrer·nosniff·DENY frame</a:t>
            </a:r>
          </a:p>
        </p:txBody>
      </p:sp>
      <p:sp>
        <p:nvSpPr>
          <p:cNvPr id="26" name="source">
            <a:extLst xmlns:a="http://schemas.openxmlformats.org/drawingml/2006/main">
              <a:ext uri="{FF2B5EF4-FFF2-40B4-BE49-F238E27FC236}">
                <a16:creationId xmlns:a16="http://schemas.microsoft.com/office/drawing/2014/main" id="{85F22A98-9575-4C47-918D-15FD4F3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7B898F"/>
                </a:solidFill>
                <a:latin typeface="Apple SD Gothic Neo"/>
                <a:ea typeface="Apple SD Gothic Neo"/>
                <a:cs typeface="Apple SD Gothic Neo"/>
              </a:rPr>
              <a:t>Verified from Worker source and current 5-file static build on 2026.07.11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DD19470E-3284-4C1A-877A-508DE2C5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10</a:t>
            </a:r>
          </a:p>
        </p:txBody>
      </p:sp>
    </p:spTree>
    <p:extLst>
      <p:ext uri="{BB962C8B-B14F-4D97-AF65-F5344CB8AC3E}">
        <p14:creationId xmlns:p14="http://schemas.microsoft.com/office/powerpoint/2010/main" val="2057648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AC8F25-3992-4CCE-B2AE-284006F8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현재 확인된 것은 ‘기술 동작’; 아직 필요한 것은 ‘임상·제도 검증’입니다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9185D6-48AD-4283-A6EB-72CB08D4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검증 완료 범위를 좁고 명확하게 표시해야 공식 서비스로 오인되는 위험을 줄일 수 있습니다.</a:t>
            </a:r>
          </a:p>
        </p:txBody>
      </p:sp>
      <p:cxnSp>
        <p:nvCxnSpPr>
          <p:cNvPr id="33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verified">
            <a:extLst xmlns:a="http://schemas.openxmlformats.org/drawingml/2006/main">
              <a:ext uri="{FF2B5EF4-FFF2-40B4-BE49-F238E27FC236}">
                <a16:creationId xmlns:a16="http://schemas.microsoft.com/office/drawing/2014/main" id="{C922D5BA-0856-44BD-AF5A-1653EEC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381625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ending">
            <a:extLst xmlns:a="http://schemas.openxmlformats.org/drawingml/2006/main">
              <a:ext uri="{FF2B5EF4-FFF2-40B4-BE49-F238E27FC236}">
                <a16:creationId xmlns:a16="http://schemas.microsoft.com/office/drawing/2014/main" id="{244878CE-FE1D-4AF5-9E50-9EEC43F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52600"/>
            <a:ext cx="5381625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85304F-EDEF-4F1E-A364-E3C9D81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현재 확인됨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9468BE-232B-4F04-ADC8-268862F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임상 사용 전 필요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E32BB1-D61B-42F9-B233-23BC1E6B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123F8B-17B2-4BE9-92F2-02E7DE4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대표·경계·안전 분기의 규칙 엔진 테스트 통과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8A36EA-4F3A-48BF-AF14-FB17C39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7E2DB1-462B-4D56-966A-B9D3ACE8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Cloudflare Worker proxy·허용 경로 테스트 통과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F3E987-7241-4B84-9E70-A27A296E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A4E4520-2739-4984-8BEA-E8CF339F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정적 5파일 빌드 및 공개 HTTPS 화면 동작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619E75-3273-4A34-A5F9-FC09469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468DF5B-3DDD-41F2-8724-9D33BC10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환자 식별정보 미수집·브라우저 내 계산 구조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1348F6-ECC6-4A75-AE55-43B8429E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D6A55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2114B62-5815-4408-9236-3745EA64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오픈소스 코드·근거·검토 필요 항목 공개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942F6EF-7FE7-4603-9424-1C39DAE4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71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249EFCC-6B4A-4C45-A1C0-920B1687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717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지침 해석 및 전체 분기의 다학제 임상 검수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EA27B6-C983-4E1B-95B5-5BD55DF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05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DA550ED-F29C-445A-B02D-BC983DD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051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국내 제형·반올림·상호작용의 약제부 검증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7BEC5BD-03C3-4AE9-87C4-E8F239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38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05D4CE6-F4B7-4B00-9131-6FEDABC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385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소아·임신·신간기능·고체중 경계 사례 검증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19A9FC-D840-4E0D-8DF6-5D271CC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719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F589F98-2CE5-43C7-84AE-31049372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719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1차 의료기관 사용자 평가와 오류 유형 분석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599C6DF-C438-4BEF-A48C-2B32415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053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○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B1ADB4A-9C25-4907-9908-C83A844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70535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의료기기 소프트웨어 해당성·책임·운영 주체 검토</a:t>
            </a:r>
          </a:p>
        </p:txBody>
      </p:sp>
      <p:sp>
        <p:nvSpPr>
          <p:cNvPr id="28" name="prototype-badge-bg">
            <a:extLst xmlns:a="http://schemas.openxmlformats.org/drawingml/2006/main">
              <a:ext uri="{FF2B5EF4-FFF2-40B4-BE49-F238E27FC236}">
                <a16:creationId xmlns:a16="http://schemas.microsoft.com/office/drawing/2014/main" id="{9040CD5C-A124-40E6-BE4E-F907CD4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905500"/>
            <a:ext cx="28384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rototype-badge">
            <a:extLst xmlns:a="http://schemas.openxmlformats.org/drawingml/2006/main">
              <a:ext uri="{FF2B5EF4-FFF2-40B4-BE49-F238E27FC236}">
                <a16:creationId xmlns:a16="http://schemas.microsoft.com/office/drawing/2014/main" id="{18B1C73A-9094-495B-90C5-2BD607D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96265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423A"/>
                </a:solidFill>
                <a:latin typeface="Apple SD Gothic Neo"/>
                <a:ea typeface="Apple SD Gothic Neo"/>
                <a:cs typeface="Apple SD Gothic Neo"/>
              </a:rPr>
              <a:t>임상·규제 검증 전 프로토타입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EE6A2E9-CE4F-498A-9F76-53A0B4A2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11</a:t>
            </a:r>
          </a:p>
        </p:txBody>
      </p:sp>
    </p:spTree>
    <p:extLst>
      <p:ext uri="{BB962C8B-B14F-4D97-AF65-F5344CB8AC3E}">
        <p14:creationId xmlns:p14="http://schemas.microsoft.com/office/powerpoint/2010/main" val="1943927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3087F0-EF1F-4005-B3E3-163E7C1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공동 고도화는 세 단계 검증으로 시작할 수 있습니다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BCE533-5356-46DB-9DCD-B59C06A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기간보다 합의된 산출물과 중단 기준을 우선하는 연구·운영 검증 흐름입니다.</a:t>
            </a:r>
          </a:p>
        </p:txBody>
      </p:sp>
      <p:cxnSp>
        <p:nvCxnSpPr>
          <p:cNvPr id="33" name="title-rule"/>
          <p:cNvCxnSpPr/>
          <p:nvPr/>
        </p:nvCxnSpPr>
        <p:spPr>
          <a:xfrm xmlns:a="http://schemas.openxmlformats.org/drawingml/2006/main">
            <a:off x="400050" y="13906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0181D"/>
            </a:solidFill>
            <a:prstDash val="solid"/>
          </a:ln>
        </p:spPr>
      </p:cxnSp>
      <p:sp>
        <p:nvSpPr>
          <p:cNvPr id="4" name="phase-0">
            <a:extLst xmlns:a="http://schemas.openxmlformats.org/drawingml/2006/main">
              <a:ext uri="{FF2B5EF4-FFF2-40B4-BE49-F238E27FC236}">
                <a16:creationId xmlns:a16="http://schemas.microsoft.com/office/drawing/2014/main" id="{2BA5CBF2-5126-499A-B1AE-0D1F948A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143250" cy="24574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ase-1">
            <a:extLst xmlns:a="http://schemas.openxmlformats.org/drawingml/2006/main">
              <a:ext uri="{FF2B5EF4-FFF2-40B4-BE49-F238E27FC236}">
                <a16:creationId xmlns:a16="http://schemas.microsoft.com/office/drawing/2014/main" id="{51A4A26E-F3BF-4D34-B29B-5849DFE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43250" cy="24574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2">
            <a:extLst xmlns:a="http://schemas.openxmlformats.org/drawingml/2006/main">
              <a:ext uri="{FF2B5EF4-FFF2-40B4-BE49-F238E27FC236}">
                <a16:creationId xmlns:a16="http://schemas.microsoft.com/office/drawing/2014/main" id="{46F0DF56-2B01-43B4-815B-548E9CA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3143250" cy="24574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48100" y="37814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77150" y="37814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6B78"/>
            </a:solidFill>
            <a:prstDash val="solid"/>
            <a:tailEnd type="arrow" w="med" len="med"/>
          </a:ln>
        </p:spPr>
      </p:cxnSp>
      <p:sp>
        <p:nvSpPr>
          <p:cNvPr id="9" name="phase-badge-0-bg">
            <a:extLst xmlns:a="http://schemas.openxmlformats.org/drawingml/2006/main">
              <a:ext uri="{FF2B5EF4-FFF2-40B4-BE49-F238E27FC236}">
                <a16:creationId xmlns:a16="http://schemas.microsoft.com/office/drawing/2014/main" id="{A652EF22-1E45-42A4-B128-1AEF939F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badge-0">
            <a:extLst xmlns:a="http://schemas.openxmlformats.org/drawingml/2006/main">
              <a:ext uri="{FF2B5EF4-FFF2-40B4-BE49-F238E27FC236}">
                <a16:creationId xmlns:a16="http://schemas.microsoft.com/office/drawing/2014/main" id="{CDB60662-C77E-4E2D-8436-7616BB4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1단계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1C269B-A335-4D4A-912C-0057332F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규칙 검토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19A551-15AD-4F5A-B0AA-A9D6E8A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지침–코드 매핑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용량표·예외 분기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용어·표현 합의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914400" y="4572000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2C7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2D61BC-CF9A-4047-8BDB-1B0BD15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산출물  규칙 기준표</a:t>
            </a:r>
          </a:p>
        </p:txBody>
      </p:sp>
      <p:sp>
        <p:nvSpPr>
          <p:cNvPr id="15" name="phase-badge-1-bg">
            <a:extLst xmlns:a="http://schemas.openxmlformats.org/drawingml/2006/main">
              <a:ext uri="{FF2B5EF4-FFF2-40B4-BE49-F238E27FC236}">
                <a16:creationId xmlns:a16="http://schemas.microsoft.com/office/drawing/2014/main" id="{F857A147-595E-4953-B967-C6E9798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badge-1">
            <a:extLst xmlns:a="http://schemas.openxmlformats.org/drawingml/2006/main">
              <a:ext uri="{FF2B5EF4-FFF2-40B4-BE49-F238E27FC236}">
                <a16:creationId xmlns:a16="http://schemas.microsoft.com/office/drawing/2014/main" id="{01F08355-7799-470E-9EC5-714EB2A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2단계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8493FF-62ED-4E4E-BD3F-E9BCB91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사용성·경계 사례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F8F1C1-B2FD-4FB6-ACEC-DFAB76DB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33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보건소·1차 의료기관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대표 시나리오·오류 분석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3분 내 입력 가능성</a:t>
            </a:r>
          </a:p>
        </p:txBody>
      </p:sp>
      <p:cxnSp>
        <p:nvCxnSpPr>
          <p:cNvPr id="49" name="rule"/>
          <p:cNvCxnSpPr/>
          <p:nvPr/>
        </p:nvCxnSpPr>
        <p:spPr>
          <a:xfrm xmlns:a="http://schemas.openxmlformats.org/drawingml/2006/main">
            <a:off x="4743450" y="4572000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2C7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C285B6-05D5-4F83-BF73-7297171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148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산출물  검증 리포트</a:t>
            </a:r>
          </a:p>
        </p:txBody>
      </p:sp>
      <p:sp>
        <p:nvSpPr>
          <p:cNvPr id="21" name="phase-badge-2-bg">
            <a:extLst xmlns:a="http://schemas.openxmlformats.org/drawingml/2006/main">
              <a:ext uri="{FF2B5EF4-FFF2-40B4-BE49-F238E27FC236}">
                <a16:creationId xmlns:a16="http://schemas.microsoft.com/office/drawing/2014/main" id="{D3BF9AE7-7077-491A-AACD-C3C61A2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badge-2">
            <a:extLst xmlns:a="http://schemas.openxmlformats.org/drawingml/2006/main">
              <a:ext uri="{FF2B5EF4-FFF2-40B4-BE49-F238E27FC236}">
                <a16:creationId xmlns:a16="http://schemas.microsoft.com/office/drawing/2014/main" id="{44232935-61FA-414A-A104-64A97E0D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3단계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BF15059-1597-4047-AF3A-7BB3132F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Silent pilot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426CD3-F88E-4C0A-963A-FBC0A3CB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실제 진료와 병행하되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처방에는 자동 반영하지 않음</a:t>
            </a:r>
          </a:p>
          <a:p xmlns:a="http://schemas.openxmlformats.org/drawingml/2006/main">
            <a:pPr algn="l">
              <a:def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불일치·누락률 평가</a:t>
            </a:r>
          </a:p>
        </p:txBody>
      </p:sp>
      <p:cxnSp>
        <p:nvCxnSpPr>
          <p:cNvPr id="55" name="rule"/>
          <p:cNvCxnSpPr/>
          <p:nvPr/>
        </p:nvCxnSpPr>
        <p:spPr>
          <a:xfrm xmlns:a="http://schemas.openxmlformats.org/drawingml/2006/main">
            <a:off x="8572500" y="4572000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2C7"/>
            </a:solidFill>
            <a:prstDash val="solid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D528EF0-7D65-467F-ACD9-8F7DA0C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산출물  도입 판단</a:t>
            </a:r>
          </a:p>
        </p:txBody>
      </p:sp>
      <p:sp>
        <p:nvSpPr>
          <p:cNvPr id="27" name="pilot-note">
            <a:extLst xmlns:a="http://schemas.openxmlformats.org/drawingml/2006/main">
              <a:ext uri="{FF2B5EF4-FFF2-40B4-BE49-F238E27FC236}">
                <a16:creationId xmlns:a16="http://schemas.microsoft.com/office/drawing/2014/main" id="{87904C53-6B78-4455-B9A1-C385B619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801350" cy="5429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D680CA4-A3C4-4745-8E93-A13BB22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5A00"/>
                </a:solidFill>
                <a:latin typeface="Apple SD Gothic Neo"/>
                <a:ea typeface="Apple SD Gothic Neo"/>
                <a:cs typeface="Apple SD Gothic Neo"/>
              </a:rPr>
              <a:t>원칙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6477729-508D-42FA-B188-ACB5C1CF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14975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검증 전에는 처방 자동 확정·EMR 자동 반영·공식 질병관리청 서비스 표기를 하지 않습니다.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6857AB1E-72B5-4983-88AD-C0A0EDD1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검토용 · MalariaFrame  |  12</a:t>
            </a:r>
          </a:p>
        </p:txBody>
      </p:sp>
    </p:spTree>
    <p:extLst>
      <p:ext uri="{BB962C8B-B14F-4D97-AF65-F5344CB8AC3E}">
        <p14:creationId xmlns:p14="http://schemas.microsoft.com/office/powerpoint/2010/main" val="1196946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dge-bg">
            <a:extLst xmlns:a="http://schemas.openxmlformats.org/drawingml/2006/main">
              <a:ext uri="{FF2B5EF4-FFF2-40B4-BE49-F238E27FC236}">
                <a16:creationId xmlns:a16="http://schemas.microsoft.com/office/drawing/2014/main" id="{790A54E7-176D-4FF6-B6E0-328B4662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adge">
            <a:extLst xmlns:a="http://schemas.openxmlformats.org/drawingml/2006/main">
              <a:ext uri="{FF2B5EF4-FFF2-40B4-BE49-F238E27FC236}">
                <a16:creationId xmlns:a16="http://schemas.microsoft.com/office/drawing/2014/main" id="{FAC130CB-FD78-41E6-A350-82F3D386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3A45"/>
                </a:solidFill>
                <a:latin typeface="Apple SD Gothic Neo"/>
                <a:ea typeface="Apple SD Gothic Neo"/>
                <a:cs typeface="Apple SD Gothic Neo"/>
              </a:rPr>
              <a:t>검토 제안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B51798D-2D3E-4C69-9652-17F5A5AB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협업 검토에서</a:t>
            </a:r>
          </a:p>
          <a:p xmlns:a="http://schemas.openxmlformats.org/drawingml/2006/main">
            <a:pPr algn="l">
              <a:defRPr sz="39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75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세 가지 합의가 필요합니다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346710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1B5FA4-FD87-478D-A6CF-4756B0B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C2122F-701B-46C9-B913-AD0626F3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근거 거버넌스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118510-8555-4CE3-9FD8-81434D98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공식 기준 문서·개정 주기·규칙 승인 책임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4191000" y="346710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2C7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0FB99B-0A60-4C70-93AF-AE3A2D5D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E022DC-CF80-4189-9B67-F551B6F9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임상 검증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2CF3CE-25BB-48E0-9589-0B86B421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분과별 검수자·대표/경계 사례·중단 기준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7981950" y="346710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2C7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68AF75-8CC6-469A-BB9D-80188D1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A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6C41D8-DE4B-4657-A414-E2FF2020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1D"/>
                </a:solidFill>
                <a:latin typeface="Apple SD Gothic Neo"/>
                <a:ea typeface="Apple SD Gothic Neo"/>
                <a:cs typeface="Apple SD Gothic Neo"/>
              </a:rPr>
              <a:t>현장 평가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7942DA-BF0A-4C88-B313-6AB6C06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3626A"/>
                </a:solidFill>
                <a:latin typeface="Apple SD Gothic Neo"/>
                <a:ea typeface="Apple SD Gothic Neo"/>
                <a:cs typeface="Apple SD Gothic Neo"/>
              </a:rPr>
              <a:t>대상 기관·silent pilot·오류·불일치 지표</a:t>
            </a:r>
          </a:p>
        </p:txBody>
      </p:sp>
      <p:sp>
        <p:nvSpPr>
          <p:cNvPr id="16" name="close-statement">
            <a:extLst xmlns:a="http://schemas.openxmlformats.org/drawingml/2006/main">
              <a:ext uri="{FF2B5EF4-FFF2-40B4-BE49-F238E27FC236}">
                <a16:creationId xmlns:a16="http://schemas.microsoft.com/office/drawing/2014/main" id="{513F2249-F6AA-46CB-AFA9-0EC8CB3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CD7048-A050-4714-A689-70B4689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공개 규칙 · 검증 로그 · 버전 관리 체계를 전제로, 공식 서비스로 오인되지 않는 범위에서 공동 고도화를 제안합니다.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E59DBC-D95E-4EDB-B342-D8082A89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malaria.jisong.dev  ·  github.com/jsbang01357/MalariaFrame  ·  MIT License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6F4208-3462-4002-A80A-07940A7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3887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B898F"/>
                </a:solidFill>
                <a:latin typeface="Helvetica Neue"/>
                <a:ea typeface="Helvetica Neue"/>
                <a:cs typeface="Helvetica Neue"/>
              </a:rPr>
              <a:t>제안·개발  jsbang01357</a:t>
            </a:r>
          </a:p>
        </p:txBody>
      </p:sp>
    </p:spTree>
    <p:extLst>
      <p:ext uri="{BB962C8B-B14F-4D97-AF65-F5344CB8AC3E}">
        <p14:creationId xmlns:p14="http://schemas.microsoft.com/office/powerpoint/2010/main" val="1044271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2026-07-11T02:35:49.4520000Z</dcterms:created>
  <dcterms:modified xsi:type="dcterms:W3CDTF">2026-07-11T02:35:49.4520000Z</dcterms:modified>
</coreProperties>
</file>